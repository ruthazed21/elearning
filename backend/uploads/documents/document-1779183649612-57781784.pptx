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4" r:id="rId2"/>
    <p:sldId id="266" r:id="rId3"/>
    <p:sldId id="283" r:id="rId4"/>
    <p:sldId id="282" r:id="rId5"/>
    <p:sldId id="281" r:id="rId6"/>
    <p:sldId id="280" r:id="rId7"/>
    <p:sldId id="279" r:id="rId8"/>
    <p:sldId id="278" r:id="rId9"/>
    <p:sldId id="277" r:id="rId10"/>
    <p:sldId id="276" r:id="rId11"/>
    <p:sldId id="275" r:id="rId12"/>
    <p:sldId id="284" r:id="rId13"/>
    <p:sldId id="285" r:id="rId14"/>
    <p:sldId id="274" r:id="rId15"/>
    <p:sldId id="273" r:id="rId16"/>
    <p:sldId id="272" r:id="rId17"/>
    <p:sldId id="271" r:id="rId18"/>
    <p:sldId id="270" r:id="rId19"/>
    <p:sldId id="269" r:id="rId20"/>
    <p:sldId id="268" r:id="rId21"/>
    <p:sldId id="257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AD5C80-5553-4321-A7C4-9D952E11AB3D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1CD1E-1772-4253-9639-1373ECBFE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99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89DD8-9394-4C02-9694-DA37E1B42985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92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88917-C2CA-478F-A377-5D9CC7DB1BCB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1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E1B59-D8B6-4FE5-BAC1-D2897875362C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E80D1-15FB-4499-B75F-32C122997F8F}" type="datetime1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62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CAE75-EB3C-4BC0-9A46-1D2A8017D90F}" type="datetime1">
              <a:rPr lang="en-US" smtClean="0"/>
              <a:t>12/14/2023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2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A42DA-B39D-43E4-919D-4361D5F30708}" type="datetime1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47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F96BA-E9F2-4411-B3D3-B8488CEBFC3B}" type="datetime1">
              <a:rPr lang="en-US" smtClean="0"/>
              <a:t>12/14/2023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758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D0C06-C823-4B15-91D1-354474BCE577}" type="datetime1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595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BD5B3-140F-4D7E-9EBD-2573385D601A}" type="datetime1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10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6BD38-94AF-4BE2-8AD6-04C402796E46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606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EA3A5-13F0-4CA4-BAA7-05EBAB3C9C24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166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55D88-6E05-4C11-AD58-EC9B43B5DDBE}" type="datetime1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11ACD-880B-4F27-BA9A-5607568853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89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hatfix.com/blog/adapt-to-change/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143000"/>
            <a:ext cx="8458200" cy="5562600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r>
              <a:rPr lang="en-US" sz="4400" dirty="0" smtClean="0">
                <a:solidFill>
                  <a:srgbClr val="00B050"/>
                </a:solidFill>
              </a:rPr>
              <a:t>Chapter Seven</a:t>
            </a:r>
          </a:p>
          <a:p>
            <a:r>
              <a:rPr lang="en-US" sz="4400" dirty="0" smtClean="0">
                <a:solidFill>
                  <a:srgbClr val="00B050"/>
                </a:solidFill>
              </a:rPr>
              <a:t>Organizational Change Management </a:t>
            </a:r>
            <a:endParaRPr lang="en-US" sz="4400" dirty="0">
              <a:solidFill>
                <a:srgbClr val="00B05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795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990600"/>
            <a:ext cx="8458200" cy="57150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tx1"/>
                </a:solidFill>
              </a:rPr>
              <a:t>“Change or die</a:t>
            </a:r>
            <a:r>
              <a:rPr lang="en-US" dirty="0" smtClean="0">
                <a:solidFill>
                  <a:schemeClr val="tx1"/>
                </a:solidFill>
              </a:rPr>
              <a:t>”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itchFamily="34" charset="0"/>
              <a:buChar char="•"/>
            </a:pPr>
            <a:endParaRPr lang="en-US" sz="2800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itchFamily="34" charset="0"/>
              <a:buChar char="•"/>
            </a:pPr>
            <a:endParaRPr lang="en-US" sz="2800" dirty="0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676400"/>
            <a:ext cx="52578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02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3809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Forces of change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685800"/>
            <a:ext cx="8458200" cy="6019800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Nature of the workforce 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More cultural diversity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Aging population 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Increased immigration and outsourcing</a:t>
            </a:r>
          </a:p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Technology </a:t>
            </a:r>
            <a:endParaRPr lang="en-US" sz="2400" b="1" dirty="0">
              <a:solidFill>
                <a:schemeClr val="tx1"/>
              </a:solidFill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Faster</a:t>
            </a:r>
            <a:r>
              <a:rPr lang="en-US" sz="2400" dirty="0">
                <a:solidFill>
                  <a:schemeClr val="tx1"/>
                </a:solidFill>
              </a:rPr>
              <a:t>, cheaper, and more mobile computers </a:t>
            </a:r>
            <a:r>
              <a:rPr lang="en-US" sz="2400" dirty="0" smtClean="0">
                <a:solidFill>
                  <a:schemeClr val="tx1"/>
                </a:solidFill>
              </a:rPr>
              <a:t>and handheld devices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Emergence </a:t>
            </a:r>
            <a:r>
              <a:rPr lang="en-US" sz="2400" dirty="0">
                <a:solidFill>
                  <a:schemeClr val="tx1"/>
                </a:solidFill>
              </a:rPr>
              <a:t>and growth of social networking </a:t>
            </a:r>
            <a:r>
              <a:rPr lang="en-US" sz="2400" dirty="0" smtClean="0">
                <a:solidFill>
                  <a:schemeClr val="tx1"/>
                </a:solidFill>
              </a:rPr>
              <a:t>sites</a:t>
            </a:r>
          </a:p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Economic </a:t>
            </a:r>
            <a:r>
              <a:rPr lang="en-US" sz="2400" b="1" dirty="0">
                <a:solidFill>
                  <a:schemeClr val="tx1"/>
                </a:solidFill>
              </a:rPr>
              <a:t>shocks </a:t>
            </a:r>
            <a:endParaRPr lang="en-US" sz="2400" b="1" dirty="0" smtClean="0">
              <a:solidFill>
                <a:schemeClr val="tx1"/>
              </a:solidFill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Rise </a:t>
            </a:r>
            <a:r>
              <a:rPr lang="en-US" sz="2400" dirty="0">
                <a:solidFill>
                  <a:schemeClr val="tx1"/>
                </a:solidFill>
              </a:rPr>
              <a:t>and fall of global housing </a:t>
            </a:r>
            <a:r>
              <a:rPr lang="en-US" sz="2400" dirty="0" smtClean="0">
                <a:solidFill>
                  <a:schemeClr val="tx1"/>
                </a:solidFill>
              </a:rPr>
              <a:t>market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Financial </a:t>
            </a:r>
            <a:r>
              <a:rPr lang="en-US" sz="2400" dirty="0">
                <a:solidFill>
                  <a:schemeClr val="tx1"/>
                </a:solidFill>
              </a:rPr>
              <a:t>sector </a:t>
            </a:r>
            <a:r>
              <a:rPr lang="en-US" sz="2400" dirty="0" smtClean="0">
                <a:solidFill>
                  <a:schemeClr val="tx1"/>
                </a:solidFill>
              </a:rPr>
              <a:t>collapse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Global recession</a:t>
            </a:r>
          </a:p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Competition 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Global competitors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Mergers </a:t>
            </a:r>
            <a:r>
              <a:rPr lang="en-US" sz="2400" dirty="0">
                <a:solidFill>
                  <a:schemeClr val="tx1"/>
                </a:solidFill>
              </a:rPr>
              <a:t>and </a:t>
            </a:r>
            <a:r>
              <a:rPr lang="en-US" sz="2400" dirty="0" smtClean="0">
                <a:solidFill>
                  <a:schemeClr val="tx1"/>
                </a:solidFill>
              </a:rPr>
              <a:t>consolidations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Increased </a:t>
            </a:r>
            <a:r>
              <a:rPr lang="en-US" sz="2400" dirty="0">
                <a:solidFill>
                  <a:schemeClr val="tx1"/>
                </a:solidFill>
              </a:rPr>
              <a:t>government regulation of </a:t>
            </a:r>
            <a:r>
              <a:rPr lang="en-US" sz="2400" dirty="0" smtClean="0">
                <a:solidFill>
                  <a:schemeClr val="tx1"/>
                </a:solidFill>
              </a:rPr>
              <a:t>commerce</a:t>
            </a:r>
          </a:p>
          <a:p>
            <a:pPr algn="l"/>
            <a:r>
              <a:rPr lang="en-US" sz="2400" b="1" dirty="0" smtClean="0">
                <a:solidFill>
                  <a:schemeClr val="tx1"/>
                </a:solidFill>
              </a:rPr>
              <a:t>Social </a:t>
            </a:r>
            <a:r>
              <a:rPr lang="en-US" sz="2400" b="1" dirty="0">
                <a:solidFill>
                  <a:schemeClr val="tx1"/>
                </a:solidFill>
              </a:rPr>
              <a:t>trends </a:t>
            </a:r>
            <a:endParaRPr lang="en-US" sz="2400" b="1" dirty="0" smtClean="0">
              <a:solidFill>
                <a:schemeClr val="tx1"/>
              </a:solidFill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Increased </a:t>
            </a:r>
            <a:r>
              <a:rPr lang="en-US" sz="2400" dirty="0">
                <a:solidFill>
                  <a:schemeClr val="tx1"/>
                </a:solidFill>
              </a:rPr>
              <a:t>environmental </a:t>
            </a:r>
            <a:r>
              <a:rPr lang="en-US" sz="2400" dirty="0" smtClean="0">
                <a:solidFill>
                  <a:schemeClr val="tx1"/>
                </a:solidFill>
              </a:rPr>
              <a:t>awareness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More </a:t>
            </a:r>
            <a:r>
              <a:rPr lang="en-US" sz="2400" dirty="0">
                <a:solidFill>
                  <a:schemeClr val="tx1"/>
                </a:solidFill>
              </a:rPr>
              <a:t>multitasking and </a:t>
            </a:r>
            <a:r>
              <a:rPr lang="en-US" sz="2400" dirty="0" smtClean="0">
                <a:solidFill>
                  <a:schemeClr val="tx1"/>
                </a:solidFill>
              </a:rPr>
              <a:t>connectivity</a:t>
            </a:r>
          </a:p>
          <a:p>
            <a:pPr algn="l"/>
            <a:r>
              <a:rPr lang="en-US" sz="2000" b="1" dirty="0" smtClean="0">
                <a:solidFill>
                  <a:schemeClr val="tx1"/>
                </a:solidFill>
              </a:rPr>
              <a:t>World </a:t>
            </a:r>
            <a:r>
              <a:rPr lang="en-US" sz="2000" b="1" dirty="0">
                <a:solidFill>
                  <a:schemeClr val="tx1"/>
                </a:solidFill>
              </a:rPr>
              <a:t>politics </a:t>
            </a:r>
            <a:endParaRPr lang="en-US" sz="2000" b="1" dirty="0" smtClean="0">
              <a:solidFill>
                <a:schemeClr val="tx1"/>
              </a:solidFill>
            </a:endParaRP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Rising </a:t>
            </a:r>
            <a:r>
              <a:rPr lang="en-US" sz="2000" dirty="0">
                <a:solidFill>
                  <a:schemeClr val="tx1"/>
                </a:solidFill>
              </a:rPr>
              <a:t>health care </a:t>
            </a:r>
            <a:r>
              <a:rPr lang="en-US" sz="2000" dirty="0" smtClean="0">
                <a:solidFill>
                  <a:schemeClr val="tx1"/>
                </a:solidFill>
              </a:rPr>
              <a:t>costs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Negative </a:t>
            </a:r>
            <a:r>
              <a:rPr lang="en-US" sz="2000" dirty="0">
                <a:solidFill>
                  <a:schemeClr val="tx1"/>
                </a:solidFill>
              </a:rPr>
              <a:t>social attitudes toward business </a:t>
            </a:r>
            <a:r>
              <a:rPr lang="en-US" sz="2000" dirty="0" smtClean="0">
                <a:solidFill>
                  <a:schemeClr val="tx1"/>
                </a:solidFill>
              </a:rPr>
              <a:t>and executives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tx1"/>
                </a:solidFill>
              </a:rPr>
              <a:t>Opening </a:t>
            </a:r>
            <a:r>
              <a:rPr lang="en-US" sz="2000" dirty="0">
                <a:solidFill>
                  <a:schemeClr val="tx1"/>
                </a:solidFill>
              </a:rPr>
              <a:t>of new markets worldwide</a:t>
            </a:r>
            <a:endParaRPr lang="en-US" sz="2400" dirty="0" smtClean="0">
              <a:solidFill>
                <a:schemeClr val="tx1"/>
              </a:solidFill>
            </a:endParaRPr>
          </a:p>
          <a:p>
            <a:pPr algn="l"/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7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761999"/>
          </a:xfrm>
        </p:spPr>
        <p:txBody>
          <a:bodyPr>
            <a:normAutofit/>
          </a:bodyPr>
          <a:lstStyle/>
          <a:p>
            <a:r>
              <a:rPr lang="en-US" sz="3200" b="1" dirty="0" smtClean="0"/>
              <a:t>Planned Change Vs. Emergent Change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143000"/>
            <a:ext cx="8458200" cy="55626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>
                <a:solidFill>
                  <a:schemeClr val="tx1"/>
                </a:solidFill>
              </a:rPr>
              <a:t>What are the goals of planned change</a:t>
            </a:r>
            <a:r>
              <a:rPr lang="en-US" dirty="0" smtClean="0">
                <a:solidFill>
                  <a:schemeClr val="tx1"/>
                </a:solidFill>
              </a:rPr>
              <a:t>?</a:t>
            </a: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1. it </a:t>
            </a:r>
            <a:r>
              <a:rPr lang="en-US" dirty="0">
                <a:solidFill>
                  <a:schemeClr val="tx1"/>
                </a:solidFill>
              </a:rPr>
              <a:t>seeks to improve the </a:t>
            </a:r>
            <a:r>
              <a:rPr lang="en-US" dirty="0" smtClean="0">
                <a:solidFill>
                  <a:schemeClr val="tx1"/>
                </a:solidFill>
              </a:rPr>
              <a:t>ability of the  </a:t>
            </a:r>
            <a:r>
              <a:rPr lang="en-US" dirty="0">
                <a:solidFill>
                  <a:schemeClr val="tx1"/>
                </a:solidFill>
              </a:rPr>
              <a:t>organization to adapt to changes in its environment. 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2. it </a:t>
            </a:r>
            <a:r>
              <a:rPr lang="en-US" dirty="0">
                <a:solidFill>
                  <a:schemeClr val="tx1"/>
                </a:solidFill>
              </a:rPr>
              <a:t>seeks </a:t>
            </a:r>
            <a:r>
              <a:rPr lang="en-US" dirty="0" smtClean="0">
                <a:solidFill>
                  <a:schemeClr val="tx1"/>
                </a:solidFill>
              </a:rPr>
              <a:t>to change </a:t>
            </a:r>
            <a:r>
              <a:rPr lang="en-US" dirty="0">
                <a:solidFill>
                  <a:schemeClr val="tx1"/>
                </a:solidFill>
              </a:rPr>
              <a:t>employee </a:t>
            </a:r>
            <a:r>
              <a:rPr lang="en-US" dirty="0" smtClean="0">
                <a:solidFill>
                  <a:schemeClr val="tx1"/>
                </a:solidFill>
              </a:rPr>
              <a:t>behavior. </a:t>
            </a:r>
          </a:p>
          <a:p>
            <a:pPr algn="just"/>
            <a:r>
              <a:rPr lang="en-US" dirty="0" smtClean="0">
                <a:solidFill>
                  <a:srgbClr val="00B050"/>
                </a:solidFill>
              </a:rPr>
              <a:t>Who </a:t>
            </a:r>
            <a:r>
              <a:rPr lang="en-US" dirty="0">
                <a:solidFill>
                  <a:srgbClr val="00B050"/>
                </a:solidFill>
              </a:rPr>
              <a:t>in organizations is responsible for managing change activities? </a:t>
            </a:r>
            <a:r>
              <a:rPr lang="en-US" b="1" dirty="0" smtClean="0">
                <a:solidFill>
                  <a:srgbClr val="00B050"/>
                </a:solidFill>
              </a:rPr>
              <a:t>change </a:t>
            </a:r>
            <a:r>
              <a:rPr lang="en-US" b="1" dirty="0" smtClean="0">
                <a:solidFill>
                  <a:srgbClr val="00B050"/>
                </a:solidFill>
              </a:rPr>
              <a:t>agents</a:t>
            </a:r>
            <a:r>
              <a:rPr lang="en-US" dirty="0" smtClean="0">
                <a:solidFill>
                  <a:srgbClr val="00B050"/>
                </a:solidFill>
              </a:rPr>
              <a:t>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They </a:t>
            </a:r>
            <a:r>
              <a:rPr lang="en-US" dirty="0">
                <a:solidFill>
                  <a:schemeClr val="tx1"/>
                </a:solidFill>
              </a:rPr>
              <a:t>see a future for the organization others </a:t>
            </a:r>
            <a:r>
              <a:rPr lang="en-US" dirty="0" smtClean="0">
                <a:solidFill>
                  <a:schemeClr val="tx1"/>
                </a:solidFill>
              </a:rPr>
              <a:t>have not </a:t>
            </a:r>
            <a:r>
              <a:rPr lang="en-US" dirty="0">
                <a:solidFill>
                  <a:schemeClr val="tx1"/>
                </a:solidFill>
              </a:rPr>
              <a:t>identified, and they are able to motivate, invent, and implement this vision.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Change agents can be managers or </a:t>
            </a:r>
            <a:r>
              <a:rPr lang="en-US" dirty="0" smtClean="0">
                <a:solidFill>
                  <a:schemeClr val="tx1"/>
                </a:solidFill>
              </a:rPr>
              <a:t>non-managers</a:t>
            </a:r>
            <a:r>
              <a:rPr lang="en-US" dirty="0">
                <a:solidFill>
                  <a:schemeClr val="tx1"/>
                </a:solidFill>
              </a:rPr>
              <a:t>, current or new </a:t>
            </a:r>
            <a:r>
              <a:rPr lang="en-US" dirty="0" smtClean="0">
                <a:solidFill>
                  <a:schemeClr val="tx1"/>
                </a:solidFill>
              </a:rPr>
              <a:t>employees, or </a:t>
            </a:r>
            <a:r>
              <a:rPr lang="en-US" dirty="0">
                <a:solidFill>
                  <a:schemeClr val="tx1"/>
                </a:solidFill>
              </a:rPr>
              <a:t>outside consultants.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Some change agents look to transform old industries to meet new </a:t>
            </a:r>
            <a:r>
              <a:rPr lang="en-US" dirty="0" smtClean="0">
                <a:solidFill>
                  <a:schemeClr val="tx1"/>
                </a:solidFill>
              </a:rPr>
              <a:t>capabilities and </a:t>
            </a:r>
            <a:r>
              <a:rPr lang="en-US" dirty="0">
                <a:solidFill>
                  <a:schemeClr val="tx1"/>
                </a:solidFill>
              </a:rPr>
              <a:t>demands. </a:t>
            </a: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Finding true change agents in long-established organizations can </a:t>
            </a:r>
            <a:r>
              <a:rPr lang="en-US" dirty="0" smtClean="0">
                <a:solidFill>
                  <a:schemeClr val="tx1"/>
                </a:solidFill>
              </a:rPr>
              <a:t>pose unique </a:t>
            </a:r>
            <a:r>
              <a:rPr lang="en-US" dirty="0">
                <a:solidFill>
                  <a:schemeClr val="tx1"/>
                </a:solidFill>
              </a:rPr>
              <a:t>challenges.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679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533399"/>
          </a:xfrm>
        </p:spPr>
        <p:txBody>
          <a:bodyPr>
            <a:normAutofit fontScale="90000"/>
          </a:bodyPr>
          <a:lstStyle/>
          <a:p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Resistance </a:t>
            </a:r>
            <a:r>
              <a:rPr lang="en-US" sz="3600" dirty="0"/>
              <a:t>to Change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533400"/>
            <a:ext cx="8458200" cy="6172200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The reluctance of people to </a:t>
            </a:r>
            <a:r>
              <a:rPr lang="en-US" dirty="0" smtClean="0">
                <a:solidFill>
                  <a:schemeClr val="tx1"/>
                </a:solidFill>
                <a:hlinkClick r:id="rId2"/>
              </a:rPr>
              <a:t>adapt to change</a:t>
            </a:r>
            <a:r>
              <a:rPr lang="en-US" dirty="0" smtClean="0">
                <a:solidFill>
                  <a:schemeClr val="tx1"/>
                </a:solidFill>
              </a:rPr>
              <a:t>. Employees can be overt or covert about their unwillingness to adapt to organizational changes. 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Resistance to change doesn’t just come from lower levels of the organization. 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Resistance doesn’t necessarily surface in standardized ways. It can be overt, implicit, immediate, or deferred. 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It’s easiest for management to deal with overt and immediate resistance such as complaints, a work slowdown, or a strike threat. 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The greater challenge is managing resistance that is implicit or deferred because these responses—loss of loyalty or motivation, increased errors or absenteeism—are more subtle and more difficult to recognize for </a:t>
            </a:r>
            <a:r>
              <a:rPr lang="en-US" dirty="0">
                <a:solidFill>
                  <a:schemeClr val="tx1"/>
                </a:solidFill>
              </a:rPr>
              <a:t>w</a:t>
            </a:r>
            <a:r>
              <a:rPr lang="en-US" dirty="0" smtClean="0">
                <a:solidFill>
                  <a:schemeClr val="tx1"/>
                </a:solidFill>
              </a:rPr>
              <a:t>hat they are. 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Deferred actions </a:t>
            </a:r>
            <a:r>
              <a:rPr lang="en-US" dirty="0" smtClean="0">
                <a:solidFill>
                  <a:schemeClr val="tx1"/>
                </a:solidFill>
              </a:rPr>
              <a:t>also cloud the link between the change and the reaction to it, sometimes surfacing weeks, months, or even years later.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01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-152399"/>
            <a:ext cx="7772400" cy="762000"/>
          </a:xfrm>
        </p:spPr>
        <p:txBody>
          <a:bodyPr>
            <a:noAutofit/>
          </a:bodyPr>
          <a:lstStyle/>
          <a:p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Overcoming resistance to change</a:t>
            </a:r>
            <a:br>
              <a:rPr lang="en-US" sz="3200" b="1" dirty="0" smtClean="0"/>
            </a:b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533400"/>
            <a:ext cx="8458200" cy="6172200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Eight </a:t>
            </a:r>
            <a:r>
              <a:rPr lang="en-US" sz="2400" dirty="0" smtClean="0">
                <a:solidFill>
                  <a:schemeClr val="tx1"/>
                </a:solidFill>
              </a:rPr>
              <a:t>tactics</a:t>
            </a:r>
            <a:endParaRPr lang="en-US" sz="2400" dirty="0">
              <a:solidFill>
                <a:schemeClr val="tx1"/>
              </a:solidFill>
            </a:endParaRPr>
          </a:p>
          <a:p>
            <a:pPr marL="457200" indent="-457200" algn="just">
              <a:buAutoNum type="arabicPeriod"/>
            </a:pPr>
            <a:r>
              <a:rPr lang="en-US" sz="2400" b="1" dirty="0" smtClean="0">
                <a:solidFill>
                  <a:schemeClr val="tx1"/>
                </a:solidFill>
              </a:rPr>
              <a:t>Communication</a:t>
            </a:r>
          </a:p>
          <a:p>
            <a:pPr algn="just"/>
            <a:endParaRPr lang="en-US" sz="2400" dirty="0" smtClean="0">
              <a:solidFill>
                <a:schemeClr val="tx1"/>
              </a:solidFill>
            </a:endParaRPr>
          </a:p>
          <a:p>
            <a:pPr algn="just"/>
            <a:endParaRPr lang="en-US" sz="2400" dirty="0">
              <a:solidFill>
                <a:schemeClr val="tx1"/>
              </a:solidFill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Changes are most effective when a company communicates a rationale that balances the interests of various stakeholders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Formal information sessions decreased employees’ anxiety about the change, while providing high-quality information about the change increased their commitment to it.</a:t>
            </a:r>
          </a:p>
          <a:p>
            <a:pPr algn="just"/>
            <a:r>
              <a:rPr lang="en-US" sz="2400" b="1" dirty="0" smtClean="0">
                <a:solidFill>
                  <a:schemeClr val="tx1"/>
                </a:solidFill>
              </a:rPr>
              <a:t>2. Participation</a:t>
            </a:r>
            <a:r>
              <a:rPr lang="en-US" sz="2400" b="1" dirty="0" smtClean="0">
                <a:solidFill>
                  <a:schemeClr val="tx1"/>
                </a:solidFill>
              </a:rPr>
              <a:t>:-  </a:t>
            </a:r>
            <a:r>
              <a:rPr lang="en-US" sz="2400" dirty="0">
                <a:solidFill>
                  <a:schemeClr val="tx1"/>
                </a:solidFill>
              </a:rPr>
              <a:t>It’s difficult to resist a change decision in which we’ve </a:t>
            </a:r>
            <a:r>
              <a:rPr lang="en-US" sz="2400" dirty="0" smtClean="0">
                <a:solidFill>
                  <a:schemeClr val="tx1"/>
                </a:solidFill>
              </a:rPr>
              <a:t>participated.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their </a:t>
            </a:r>
            <a:r>
              <a:rPr lang="en-US" sz="2400" dirty="0">
                <a:solidFill>
                  <a:schemeClr val="tx1"/>
                </a:solidFill>
              </a:rPr>
              <a:t>involvement can reduce resistance, obtain commitment, and </a:t>
            </a:r>
            <a:r>
              <a:rPr lang="en-US" sz="2400" dirty="0" smtClean="0">
                <a:solidFill>
                  <a:schemeClr val="tx1"/>
                </a:solidFill>
              </a:rPr>
              <a:t>increase the </a:t>
            </a:r>
            <a:r>
              <a:rPr lang="en-US" sz="2400" dirty="0">
                <a:solidFill>
                  <a:schemeClr val="tx1"/>
                </a:solidFill>
              </a:rPr>
              <a:t>quality of the change decision. 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However</a:t>
            </a:r>
            <a:r>
              <a:rPr lang="en-US" sz="2400" dirty="0">
                <a:solidFill>
                  <a:schemeClr val="tx1"/>
                </a:solidFill>
              </a:rPr>
              <a:t>, against these advantages are </a:t>
            </a:r>
            <a:r>
              <a:rPr lang="en-US" sz="2400" dirty="0" smtClean="0">
                <a:solidFill>
                  <a:schemeClr val="tx1"/>
                </a:solidFill>
              </a:rPr>
              <a:t>the negatives</a:t>
            </a:r>
            <a:r>
              <a:rPr lang="en-US" sz="2400" dirty="0">
                <a:solidFill>
                  <a:schemeClr val="tx1"/>
                </a:solidFill>
              </a:rPr>
              <a:t>: the potential for a poor solution and a great consumption of time.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609600"/>
            <a:ext cx="3486150" cy="14940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152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533399"/>
          </a:xfrm>
        </p:spPr>
        <p:txBody>
          <a:bodyPr>
            <a:normAutofit/>
          </a:bodyPr>
          <a:lstStyle/>
          <a:p>
            <a:r>
              <a:rPr lang="en-US" sz="2800" dirty="0" smtClean="0"/>
              <a:t>Overcoming resistance cont.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762000"/>
            <a:ext cx="8458200" cy="5943600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b="1" dirty="0" smtClean="0">
                <a:solidFill>
                  <a:schemeClr val="tx1"/>
                </a:solidFill>
              </a:rPr>
              <a:t>3. Building </a:t>
            </a:r>
            <a:r>
              <a:rPr lang="en-US" b="1" dirty="0">
                <a:solidFill>
                  <a:schemeClr val="tx1"/>
                </a:solidFill>
              </a:rPr>
              <a:t>Support and Commitment </a:t>
            </a:r>
            <a:endParaRPr lang="en-US" b="1" dirty="0" smtClean="0">
              <a:solidFill>
                <a:schemeClr val="tx1"/>
              </a:solidFill>
            </a:endParaRPr>
          </a:p>
          <a:p>
            <a:pPr algn="just"/>
            <a:endParaRPr lang="en-US" b="1" dirty="0">
              <a:solidFill>
                <a:schemeClr val="tx1"/>
              </a:solidFill>
            </a:endParaRPr>
          </a:p>
          <a:p>
            <a:pPr algn="just"/>
            <a:endParaRPr lang="en-US" b="1" dirty="0" smtClean="0">
              <a:solidFill>
                <a:schemeClr val="tx1"/>
              </a:solidFill>
            </a:endParaRPr>
          </a:p>
          <a:p>
            <a:pPr algn="just"/>
            <a:endParaRPr lang="en-US" b="1" dirty="0">
              <a:solidFill>
                <a:schemeClr val="tx1"/>
              </a:solidFill>
            </a:endParaRPr>
          </a:p>
          <a:p>
            <a:pPr algn="just"/>
            <a:endParaRPr lang="en-US" b="1" dirty="0">
              <a:solidFill>
                <a:schemeClr val="tx1"/>
              </a:solidFill>
            </a:endParaRPr>
          </a:p>
          <a:p>
            <a:pPr algn="just"/>
            <a:r>
              <a:rPr lang="en-US" dirty="0" smtClean="0">
                <a:solidFill>
                  <a:schemeClr val="tx1"/>
                </a:solidFill>
              </a:rPr>
              <a:t>When </a:t>
            </a:r>
            <a:r>
              <a:rPr lang="en-US" dirty="0">
                <a:solidFill>
                  <a:schemeClr val="tx1"/>
                </a:solidFill>
              </a:rPr>
              <a:t>managers or employees have </a:t>
            </a:r>
            <a:r>
              <a:rPr lang="en-US" dirty="0" smtClean="0">
                <a:solidFill>
                  <a:schemeClr val="tx1"/>
                </a:solidFill>
              </a:rPr>
              <a:t>low emotional </a:t>
            </a:r>
            <a:r>
              <a:rPr lang="en-US" dirty="0">
                <a:solidFill>
                  <a:schemeClr val="tx1"/>
                </a:solidFill>
              </a:rPr>
              <a:t>commitment to change, they resist it and favor the status </a:t>
            </a:r>
            <a:r>
              <a:rPr lang="en-US" dirty="0" smtClean="0">
                <a:solidFill>
                  <a:schemeClr val="tx1"/>
                </a:solidFill>
              </a:rPr>
              <a:t>quo.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Employees are also more accepting of changes when they are committed to </a:t>
            </a:r>
            <a:r>
              <a:rPr lang="en-US" dirty="0" smtClean="0">
                <a:solidFill>
                  <a:schemeClr val="tx1"/>
                </a:solidFill>
              </a:rPr>
              <a:t>the organization </a:t>
            </a:r>
            <a:r>
              <a:rPr lang="en-US" dirty="0">
                <a:solidFill>
                  <a:schemeClr val="tx1"/>
                </a:solidFill>
              </a:rPr>
              <a:t>as a </a:t>
            </a:r>
            <a:r>
              <a:rPr lang="en-US" dirty="0" smtClean="0">
                <a:solidFill>
                  <a:schemeClr val="tx1"/>
                </a:solidFill>
              </a:rPr>
              <a:t>whole.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When </a:t>
            </a:r>
            <a:r>
              <a:rPr lang="en-US" dirty="0">
                <a:solidFill>
                  <a:schemeClr val="tx1"/>
                </a:solidFill>
              </a:rPr>
              <a:t>employees’ fear and </a:t>
            </a:r>
            <a:r>
              <a:rPr lang="en-US" dirty="0" smtClean="0">
                <a:solidFill>
                  <a:schemeClr val="tx1"/>
                </a:solidFill>
              </a:rPr>
              <a:t>anxiety are </a:t>
            </a:r>
            <a:r>
              <a:rPr lang="en-US" dirty="0">
                <a:solidFill>
                  <a:schemeClr val="tx1"/>
                </a:solidFill>
              </a:rPr>
              <a:t>high, counseling and therapy, new-skills training, or a short paid leave </a:t>
            </a:r>
            <a:r>
              <a:rPr lang="en-US" dirty="0" smtClean="0">
                <a:solidFill>
                  <a:schemeClr val="tx1"/>
                </a:solidFill>
              </a:rPr>
              <a:t>of absence </a:t>
            </a:r>
            <a:r>
              <a:rPr lang="en-US" dirty="0">
                <a:solidFill>
                  <a:schemeClr val="tx1"/>
                </a:solidFill>
              </a:rPr>
              <a:t>may facilitate adjustment to change.</a:t>
            </a:r>
          </a:p>
          <a:p>
            <a:pPr algn="just"/>
            <a:r>
              <a:rPr lang="en-US" b="1" dirty="0" smtClean="0">
                <a:solidFill>
                  <a:schemeClr val="tx1"/>
                </a:solidFill>
              </a:rPr>
              <a:t>4. Develop </a:t>
            </a:r>
            <a:r>
              <a:rPr lang="en-US" b="1" dirty="0">
                <a:solidFill>
                  <a:schemeClr val="tx1"/>
                </a:solidFill>
              </a:rPr>
              <a:t>positive </a:t>
            </a:r>
            <a:r>
              <a:rPr lang="en-US" b="1" dirty="0" smtClean="0">
                <a:solidFill>
                  <a:schemeClr val="tx1"/>
                </a:solidFill>
              </a:rPr>
              <a:t>relationships:-  </a:t>
            </a:r>
            <a:r>
              <a:rPr lang="en-US" dirty="0">
                <a:solidFill>
                  <a:schemeClr val="tx1"/>
                </a:solidFill>
              </a:rPr>
              <a:t>People are more willing to accept changes if </a:t>
            </a:r>
            <a:r>
              <a:rPr lang="en-US" dirty="0" smtClean="0">
                <a:solidFill>
                  <a:schemeClr val="tx1"/>
                </a:solidFill>
              </a:rPr>
              <a:t>they trust </a:t>
            </a:r>
            <a:r>
              <a:rPr lang="en-US" dirty="0">
                <a:solidFill>
                  <a:schemeClr val="tx1"/>
                </a:solidFill>
              </a:rPr>
              <a:t>the managers implementing </a:t>
            </a: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Wingdings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Those </a:t>
            </a:r>
            <a:r>
              <a:rPr lang="en-US" dirty="0">
                <a:solidFill>
                  <a:schemeClr val="tx1"/>
                </a:solidFill>
              </a:rPr>
              <a:t>who had a more positive relationship with their supervisor, and who felt </a:t>
            </a:r>
            <a:r>
              <a:rPr lang="en-US" dirty="0" smtClean="0">
                <a:solidFill>
                  <a:schemeClr val="tx1"/>
                </a:solidFill>
              </a:rPr>
              <a:t>that the </a:t>
            </a:r>
            <a:r>
              <a:rPr lang="en-US" dirty="0">
                <a:solidFill>
                  <a:schemeClr val="tx1"/>
                </a:solidFill>
              </a:rPr>
              <a:t>work environment supported development, were much more positive </a:t>
            </a:r>
            <a:r>
              <a:rPr lang="en-US" dirty="0" smtClean="0">
                <a:solidFill>
                  <a:schemeClr val="tx1"/>
                </a:solidFill>
              </a:rPr>
              <a:t>about the </a:t>
            </a:r>
            <a:r>
              <a:rPr lang="en-US" dirty="0">
                <a:solidFill>
                  <a:schemeClr val="tx1"/>
                </a:solidFill>
              </a:rPr>
              <a:t>change </a:t>
            </a:r>
            <a:r>
              <a:rPr lang="en-US" dirty="0" smtClean="0">
                <a:solidFill>
                  <a:schemeClr val="tx1"/>
                </a:solidFill>
              </a:rPr>
              <a:t>process.</a:t>
            </a:r>
          </a:p>
          <a:p>
            <a:pPr marL="457200" indent="-457200" algn="just">
              <a:buFont typeface="Wingdings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research </a:t>
            </a:r>
            <a:r>
              <a:rPr lang="en-US" dirty="0">
                <a:solidFill>
                  <a:schemeClr val="tx1"/>
                </a:solidFill>
              </a:rPr>
              <a:t>suggests that if </a:t>
            </a:r>
            <a:r>
              <a:rPr lang="en-US" dirty="0" smtClean="0">
                <a:solidFill>
                  <a:schemeClr val="tx1"/>
                </a:solidFill>
              </a:rPr>
              <a:t>managers are </a:t>
            </a:r>
            <a:r>
              <a:rPr lang="en-US" dirty="0">
                <a:solidFill>
                  <a:schemeClr val="tx1"/>
                </a:solidFill>
              </a:rPr>
              <a:t>able to facilitate positive relationships, they may be able to overcome </a:t>
            </a:r>
            <a:r>
              <a:rPr lang="en-US" dirty="0" smtClean="0">
                <a:solidFill>
                  <a:schemeClr val="tx1"/>
                </a:solidFill>
              </a:rPr>
              <a:t>resistance to </a:t>
            </a:r>
            <a:r>
              <a:rPr lang="en-US" dirty="0">
                <a:solidFill>
                  <a:schemeClr val="tx1"/>
                </a:solidFill>
              </a:rPr>
              <a:t>change even among those who ordinarily don’t like changes.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643111"/>
            <a:ext cx="2209800" cy="16868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25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1"/>
            <a:ext cx="7772400" cy="457199"/>
          </a:xfrm>
        </p:spPr>
        <p:txBody>
          <a:bodyPr>
            <a:noAutofit/>
          </a:bodyPr>
          <a:lstStyle/>
          <a:p>
            <a:r>
              <a:rPr lang="en-US" sz="3200" dirty="0"/>
              <a:t>Overcoming resistance cont.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609600"/>
            <a:ext cx="8458200" cy="60960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b="1" dirty="0" smtClean="0">
                <a:solidFill>
                  <a:schemeClr val="tx1"/>
                </a:solidFill>
              </a:rPr>
              <a:t>5. Implementing changes fairly:- </a:t>
            </a:r>
            <a:r>
              <a:rPr lang="en-US" dirty="0">
                <a:solidFill>
                  <a:schemeClr val="tx1"/>
                </a:solidFill>
              </a:rPr>
              <a:t>One way organizations can minimize </a:t>
            </a:r>
            <a:r>
              <a:rPr lang="en-US" dirty="0" smtClean="0">
                <a:solidFill>
                  <a:schemeClr val="tx1"/>
                </a:solidFill>
              </a:rPr>
              <a:t>negative impact </a:t>
            </a:r>
            <a:r>
              <a:rPr lang="en-US" dirty="0">
                <a:solidFill>
                  <a:schemeClr val="tx1"/>
                </a:solidFill>
              </a:rPr>
              <a:t>is to make sure change is implemented fairly. </a:t>
            </a: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Wingdings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procedural </a:t>
            </a:r>
            <a:r>
              <a:rPr lang="en-US" dirty="0">
                <a:solidFill>
                  <a:schemeClr val="tx1"/>
                </a:solidFill>
              </a:rPr>
              <a:t>fairness is especially important when employees perceive an </a:t>
            </a:r>
            <a:r>
              <a:rPr lang="en-US" dirty="0" smtClean="0">
                <a:solidFill>
                  <a:schemeClr val="tx1"/>
                </a:solidFill>
              </a:rPr>
              <a:t>outcome as </a:t>
            </a:r>
            <a:r>
              <a:rPr lang="en-US" dirty="0">
                <a:solidFill>
                  <a:schemeClr val="tx1"/>
                </a:solidFill>
              </a:rPr>
              <a:t>negative, so it’s crucial that employees see the reason for the </a:t>
            </a:r>
            <a:r>
              <a:rPr lang="en-US" dirty="0" smtClean="0">
                <a:solidFill>
                  <a:schemeClr val="tx1"/>
                </a:solidFill>
              </a:rPr>
              <a:t>change and </a:t>
            </a:r>
            <a:r>
              <a:rPr lang="en-US" dirty="0">
                <a:solidFill>
                  <a:schemeClr val="tx1"/>
                </a:solidFill>
              </a:rPr>
              <a:t>perceive its implementation as consistent and </a:t>
            </a:r>
            <a:r>
              <a:rPr lang="en-US" dirty="0" smtClean="0">
                <a:solidFill>
                  <a:schemeClr val="tx1"/>
                </a:solidFill>
              </a:rPr>
              <a:t>fair.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b="1" dirty="0" smtClean="0">
                <a:solidFill>
                  <a:schemeClr val="tx1"/>
                </a:solidFill>
              </a:rPr>
              <a:t>6. manipulation </a:t>
            </a:r>
            <a:r>
              <a:rPr lang="en-US" b="1" dirty="0">
                <a:solidFill>
                  <a:schemeClr val="tx1"/>
                </a:solidFill>
              </a:rPr>
              <a:t>and </a:t>
            </a:r>
            <a:r>
              <a:rPr lang="en-US" b="1" dirty="0" smtClean="0">
                <a:solidFill>
                  <a:schemeClr val="tx1"/>
                </a:solidFill>
              </a:rPr>
              <a:t>Cooptation</a:t>
            </a:r>
            <a:endParaRPr lang="en-US" b="1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itchFamily="2" charset="2"/>
              <a:buChar char="v"/>
            </a:pP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i="1" dirty="0">
                <a:solidFill>
                  <a:schemeClr val="tx1"/>
                </a:solidFill>
              </a:rPr>
              <a:t>Manipulation </a:t>
            </a:r>
            <a:r>
              <a:rPr lang="en-US" dirty="0">
                <a:solidFill>
                  <a:schemeClr val="tx1"/>
                </a:solidFill>
              </a:rPr>
              <a:t>refers to covert influence </a:t>
            </a:r>
            <a:r>
              <a:rPr lang="en-US" dirty="0" smtClean="0">
                <a:solidFill>
                  <a:schemeClr val="tx1"/>
                </a:solidFill>
              </a:rPr>
              <a:t>attempts. </a:t>
            </a:r>
            <a:r>
              <a:rPr lang="en-US" dirty="0">
                <a:solidFill>
                  <a:schemeClr val="tx1"/>
                </a:solidFill>
              </a:rPr>
              <a:t>T</a:t>
            </a:r>
            <a:r>
              <a:rPr lang="en-US" dirty="0" smtClean="0">
                <a:solidFill>
                  <a:schemeClr val="tx1"/>
                </a:solidFill>
              </a:rPr>
              <a:t>wisting </a:t>
            </a:r>
            <a:r>
              <a:rPr lang="en-US" dirty="0">
                <a:solidFill>
                  <a:schemeClr val="tx1"/>
                </a:solidFill>
              </a:rPr>
              <a:t>facts to make them more attractive, withholding information, </a:t>
            </a:r>
            <a:r>
              <a:rPr lang="en-US" dirty="0" smtClean="0">
                <a:solidFill>
                  <a:schemeClr val="tx1"/>
                </a:solidFill>
              </a:rPr>
              <a:t>and creating </a:t>
            </a:r>
            <a:r>
              <a:rPr lang="en-US" dirty="0">
                <a:solidFill>
                  <a:schemeClr val="tx1"/>
                </a:solidFill>
              </a:rPr>
              <a:t>false rumors to get employees to accept change are all examples </a:t>
            </a:r>
            <a:r>
              <a:rPr lang="en-US" dirty="0" smtClean="0">
                <a:solidFill>
                  <a:schemeClr val="tx1"/>
                </a:solidFill>
              </a:rPr>
              <a:t>of manipulation</a:t>
            </a:r>
            <a:r>
              <a:rPr lang="en-US" dirty="0">
                <a:solidFill>
                  <a:schemeClr val="tx1"/>
                </a:solidFill>
              </a:rPr>
              <a:t>. </a:t>
            </a: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Wingdings" pitchFamily="2" charset="2"/>
              <a:buChar char="v"/>
            </a:pPr>
            <a:r>
              <a:rPr lang="en-US" i="1" dirty="0" smtClean="0">
                <a:solidFill>
                  <a:schemeClr val="tx1"/>
                </a:solidFill>
              </a:rPr>
              <a:t>Cooptation</a:t>
            </a:r>
            <a:r>
              <a:rPr lang="en-US" i="1"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tx1"/>
                </a:solidFill>
              </a:rPr>
              <a:t>on the other </a:t>
            </a:r>
            <a:r>
              <a:rPr lang="en-US" dirty="0" smtClean="0">
                <a:solidFill>
                  <a:schemeClr val="tx1"/>
                </a:solidFill>
              </a:rPr>
              <a:t>hand, combines </a:t>
            </a:r>
            <a:r>
              <a:rPr lang="en-US" dirty="0">
                <a:solidFill>
                  <a:schemeClr val="tx1"/>
                </a:solidFill>
              </a:rPr>
              <a:t>manipulation and participation. It seeks to </a:t>
            </a:r>
            <a:r>
              <a:rPr lang="en-US" b="1" dirty="0">
                <a:solidFill>
                  <a:srgbClr val="00B050"/>
                </a:solidFill>
              </a:rPr>
              <a:t>buy off </a:t>
            </a:r>
            <a:r>
              <a:rPr lang="en-US" dirty="0">
                <a:solidFill>
                  <a:schemeClr val="tx1"/>
                </a:solidFill>
              </a:rPr>
              <a:t>the leaders of </a:t>
            </a:r>
            <a:r>
              <a:rPr lang="en-US" dirty="0" smtClean="0">
                <a:solidFill>
                  <a:schemeClr val="tx1"/>
                </a:solidFill>
              </a:rPr>
              <a:t>a resistance </a:t>
            </a:r>
            <a:r>
              <a:rPr lang="en-US" dirty="0">
                <a:solidFill>
                  <a:schemeClr val="tx1"/>
                </a:solidFill>
              </a:rPr>
              <a:t>group by giving them a key role, seeking their advice not to find a </a:t>
            </a:r>
            <a:r>
              <a:rPr lang="en-US" dirty="0" smtClean="0">
                <a:solidFill>
                  <a:schemeClr val="tx1"/>
                </a:solidFill>
              </a:rPr>
              <a:t>better solution </a:t>
            </a:r>
            <a:r>
              <a:rPr lang="en-US" dirty="0">
                <a:solidFill>
                  <a:schemeClr val="tx1"/>
                </a:solidFill>
              </a:rPr>
              <a:t>but to get their endorsement. </a:t>
            </a: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Wingdings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Both </a:t>
            </a:r>
            <a:r>
              <a:rPr lang="en-US" dirty="0">
                <a:solidFill>
                  <a:schemeClr val="tx1"/>
                </a:solidFill>
              </a:rPr>
              <a:t>manipulation and </a:t>
            </a:r>
            <a:r>
              <a:rPr lang="en-US" dirty="0" smtClean="0">
                <a:solidFill>
                  <a:schemeClr val="tx1"/>
                </a:solidFill>
              </a:rPr>
              <a:t>cooptation are </a:t>
            </a:r>
            <a:r>
              <a:rPr lang="en-US" dirty="0">
                <a:solidFill>
                  <a:schemeClr val="tx1"/>
                </a:solidFill>
              </a:rPr>
              <a:t>relatively inexpensive ways to gain the support of adversaries, but they </a:t>
            </a:r>
            <a:r>
              <a:rPr lang="en-US" dirty="0" smtClean="0">
                <a:solidFill>
                  <a:schemeClr val="tx1"/>
                </a:solidFill>
              </a:rPr>
              <a:t>can backfire </a:t>
            </a:r>
            <a:r>
              <a:rPr lang="en-US" dirty="0">
                <a:solidFill>
                  <a:schemeClr val="tx1"/>
                </a:solidFill>
              </a:rPr>
              <a:t>if the targets become aware they are being tricked or used. Once </a:t>
            </a:r>
            <a:r>
              <a:rPr lang="en-US" dirty="0" smtClean="0">
                <a:solidFill>
                  <a:schemeClr val="tx1"/>
                </a:solidFill>
              </a:rPr>
              <a:t>that’s discovered</a:t>
            </a:r>
            <a:r>
              <a:rPr lang="en-US" dirty="0">
                <a:solidFill>
                  <a:schemeClr val="tx1"/>
                </a:solidFill>
              </a:rPr>
              <a:t>, the change agent’s credibility may drop to zero.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562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1"/>
            <a:ext cx="7772400" cy="533400"/>
          </a:xfrm>
        </p:spPr>
        <p:txBody>
          <a:bodyPr>
            <a:noAutofit/>
          </a:bodyPr>
          <a:lstStyle/>
          <a:p>
            <a:r>
              <a:rPr lang="en-US" sz="3200" dirty="0"/>
              <a:t>Overcoming resistance cont.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609600"/>
            <a:ext cx="8458200" cy="6096000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b="1" dirty="0" smtClean="0">
                <a:solidFill>
                  <a:schemeClr val="tx1"/>
                </a:solidFill>
              </a:rPr>
              <a:t>7. Selecting </a:t>
            </a:r>
            <a:r>
              <a:rPr lang="en-US" b="1" dirty="0">
                <a:solidFill>
                  <a:schemeClr val="tx1"/>
                </a:solidFill>
              </a:rPr>
              <a:t>people Who accept </a:t>
            </a:r>
            <a:r>
              <a:rPr lang="en-US" b="1" dirty="0" smtClean="0">
                <a:solidFill>
                  <a:schemeClr val="tx1"/>
                </a:solidFill>
              </a:rPr>
              <a:t>Change</a:t>
            </a:r>
            <a:endParaRPr lang="en-US" b="1" dirty="0">
              <a:solidFill>
                <a:schemeClr val="tx1"/>
              </a:solidFill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Research </a:t>
            </a:r>
            <a:r>
              <a:rPr lang="en-US" dirty="0">
                <a:solidFill>
                  <a:schemeClr val="tx1"/>
                </a:solidFill>
              </a:rPr>
              <a:t>suggests the ability to </a:t>
            </a:r>
            <a:r>
              <a:rPr lang="en-US" dirty="0" smtClean="0">
                <a:solidFill>
                  <a:schemeClr val="tx1"/>
                </a:solidFill>
              </a:rPr>
              <a:t>easily accept </a:t>
            </a:r>
            <a:r>
              <a:rPr lang="en-US" dirty="0">
                <a:solidFill>
                  <a:schemeClr val="tx1"/>
                </a:solidFill>
              </a:rPr>
              <a:t>and adapt to </a:t>
            </a:r>
            <a:r>
              <a:rPr lang="en-US" i="1" dirty="0">
                <a:solidFill>
                  <a:schemeClr val="tx1"/>
                </a:solidFill>
              </a:rPr>
              <a:t>change </a:t>
            </a:r>
            <a:r>
              <a:rPr lang="en-US" dirty="0">
                <a:solidFill>
                  <a:schemeClr val="tx1"/>
                </a:solidFill>
              </a:rPr>
              <a:t>is related to personality—some people simply </a:t>
            </a:r>
            <a:r>
              <a:rPr lang="en-US" dirty="0" smtClean="0">
                <a:solidFill>
                  <a:schemeClr val="tx1"/>
                </a:solidFill>
              </a:rPr>
              <a:t>have more </a:t>
            </a:r>
            <a:r>
              <a:rPr lang="en-US" dirty="0">
                <a:solidFill>
                  <a:schemeClr val="tx1"/>
                </a:solidFill>
              </a:rPr>
              <a:t>positive </a:t>
            </a:r>
            <a:r>
              <a:rPr lang="en-US" dirty="0" smtClean="0">
                <a:solidFill>
                  <a:schemeClr val="tx1"/>
                </a:solidFill>
              </a:rPr>
              <a:t>attitudes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Wingdings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Individuals </a:t>
            </a:r>
            <a:r>
              <a:rPr lang="en-US" dirty="0">
                <a:solidFill>
                  <a:schemeClr val="tx1"/>
                </a:solidFill>
              </a:rPr>
              <a:t>who are open to experience, take a </a:t>
            </a:r>
            <a:r>
              <a:rPr lang="en-US" dirty="0" smtClean="0">
                <a:solidFill>
                  <a:schemeClr val="tx1"/>
                </a:solidFill>
              </a:rPr>
              <a:t>positive attitude </a:t>
            </a:r>
            <a:r>
              <a:rPr lang="en-US" dirty="0">
                <a:solidFill>
                  <a:schemeClr val="tx1"/>
                </a:solidFill>
              </a:rPr>
              <a:t>toward change, are willing to take risks, and are flexible in their </a:t>
            </a:r>
            <a:r>
              <a:rPr lang="en-US" dirty="0" smtClean="0">
                <a:solidFill>
                  <a:schemeClr val="tx1"/>
                </a:solidFill>
              </a:rPr>
              <a:t>behavior are </a:t>
            </a:r>
            <a:r>
              <a:rPr lang="en-US" dirty="0">
                <a:solidFill>
                  <a:schemeClr val="tx1"/>
                </a:solidFill>
              </a:rPr>
              <a:t>prime candidates. </a:t>
            </a: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Wingdings" pitchFamily="2" charset="2"/>
              <a:buChar char="v"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Wingdings" pitchFamily="2" charset="2"/>
              <a:buChar char="v"/>
            </a:pPr>
            <a:r>
              <a:rPr lang="en-US" dirty="0" smtClean="0">
                <a:solidFill>
                  <a:schemeClr val="tx1"/>
                </a:solidFill>
              </a:rPr>
              <a:t>an </a:t>
            </a:r>
            <a:r>
              <a:rPr lang="en-US" dirty="0">
                <a:solidFill>
                  <a:schemeClr val="tx1"/>
                </a:solidFill>
              </a:rPr>
              <a:t>impressive body of evidence shows </a:t>
            </a:r>
            <a:r>
              <a:rPr lang="en-US" dirty="0" smtClean="0">
                <a:solidFill>
                  <a:schemeClr val="tx1"/>
                </a:solidFill>
              </a:rPr>
              <a:t>organizations can </a:t>
            </a:r>
            <a:r>
              <a:rPr lang="en-US" dirty="0">
                <a:solidFill>
                  <a:schemeClr val="tx1"/>
                </a:solidFill>
              </a:rPr>
              <a:t>facilitate change by selecting people predisposed to accept it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 algn="just">
              <a:buFont typeface="Wingdings" pitchFamily="2" charset="2"/>
              <a:buChar char="v"/>
            </a:pPr>
            <a:endParaRPr lang="en-US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itchFamily="2" charset="2"/>
              <a:buChar char="v"/>
            </a:pPr>
            <a:r>
              <a:rPr lang="en-US" dirty="0">
                <a:solidFill>
                  <a:schemeClr val="tx1"/>
                </a:solidFill>
              </a:rPr>
              <a:t>Besides selecting individuals who are willing to accept changes, it is also </a:t>
            </a:r>
            <a:r>
              <a:rPr lang="en-US" dirty="0" smtClean="0">
                <a:solidFill>
                  <a:schemeClr val="tx1"/>
                </a:solidFill>
              </a:rPr>
              <a:t>possible to </a:t>
            </a:r>
            <a:r>
              <a:rPr lang="en-US" dirty="0">
                <a:solidFill>
                  <a:schemeClr val="tx1"/>
                </a:solidFill>
              </a:rPr>
              <a:t>select teams that are more adaptable. 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85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380999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Overcoming resistance cont.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609600"/>
            <a:ext cx="8458200" cy="6096000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400" b="1" dirty="0" smtClean="0">
                <a:solidFill>
                  <a:schemeClr val="tx1"/>
                </a:solidFill>
              </a:rPr>
              <a:t>8. Coercion</a:t>
            </a:r>
          </a:p>
          <a:p>
            <a:pPr algn="just"/>
            <a:endParaRPr lang="en-US" sz="2400" b="1" dirty="0">
              <a:solidFill>
                <a:schemeClr val="tx1"/>
              </a:solidFill>
            </a:endParaRPr>
          </a:p>
          <a:p>
            <a:pPr algn="just"/>
            <a:endParaRPr lang="en-US" sz="2400" b="1" dirty="0" smtClean="0">
              <a:solidFill>
                <a:schemeClr val="tx1"/>
              </a:solidFill>
            </a:endParaRPr>
          </a:p>
          <a:p>
            <a:pPr algn="just"/>
            <a:endParaRPr lang="en-US" sz="2400" b="1" dirty="0">
              <a:solidFill>
                <a:schemeClr val="tx1"/>
              </a:solidFill>
            </a:endParaRPr>
          </a:p>
          <a:p>
            <a:pPr algn="just"/>
            <a:r>
              <a:rPr lang="en-US" sz="2400" b="1" dirty="0" smtClean="0">
                <a:solidFill>
                  <a:schemeClr val="tx1"/>
                </a:solidFill>
              </a:rPr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the </a:t>
            </a:r>
            <a:r>
              <a:rPr lang="en-US" sz="2400" dirty="0">
                <a:solidFill>
                  <a:schemeClr val="tx1"/>
                </a:solidFill>
              </a:rPr>
              <a:t>application of direct </a:t>
            </a:r>
            <a:r>
              <a:rPr lang="en-US" sz="2400" dirty="0" smtClean="0">
                <a:solidFill>
                  <a:schemeClr val="tx1"/>
                </a:solidFill>
              </a:rPr>
              <a:t>threats or </a:t>
            </a:r>
            <a:r>
              <a:rPr lang="en-US" sz="2400" dirty="0">
                <a:solidFill>
                  <a:schemeClr val="tx1"/>
                </a:solidFill>
              </a:rPr>
              <a:t>force on the resisters. 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</a:rPr>
              <a:t>Other </a:t>
            </a:r>
            <a:r>
              <a:rPr lang="en-US" sz="2400" dirty="0">
                <a:solidFill>
                  <a:schemeClr val="tx1"/>
                </a:solidFill>
              </a:rPr>
              <a:t>examples include threatening employees with </a:t>
            </a:r>
            <a:r>
              <a:rPr lang="en-US" sz="2400" dirty="0" smtClean="0">
                <a:solidFill>
                  <a:schemeClr val="tx1"/>
                </a:solidFill>
              </a:rPr>
              <a:t>transfers, blocked </a:t>
            </a:r>
            <a:r>
              <a:rPr lang="en-US" sz="2400" dirty="0">
                <a:solidFill>
                  <a:schemeClr val="tx1"/>
                </a:solidFill>
              </a:rPr>
              <a:t>promotions, negative performance evaluations, and poor </a:t>
            </a:r>
            <a:r>
              <a:rPr lang="en-US" sz="2400" dirty="0" smtClean="0">
                <a:solidFill>
                  <a:schemeClr val="tx1"/>
                </a:solidFill>
              </a:rPr>
              <a:t>letters of </a:t>
            </a:r>
            <a:r>
              <a:rPr lang="en-US" sz="2400" dirty="0">
                <a:solidFill>
                  <a:schemeClr val="tx1"/>
                </a:solidFill>
              </a:rPr>
              <a:t>recommendation. 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Wingdings" pitchFamily="2" charset="2"/>
              <a:buChar char="Ø"/>
            </a:pP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</a:rPr>
              <a:t>Coercion </a:t>
            </a:r>
            <a:r>
              <a:rPr lang="en-US" sz="2400" dirty="0">
                <a:solidFill>
                  <a:schemeClr val="tx1"/>
                </a:solidFill>
              </a:rPr>
              <a:t>is </a:t>
            </a:r>
            <a:r>
              <a:rPr lang="en-US" sz="2400" dirty="0">
                <a:solidFill>
                  <a:srgbClr val="00B050"/>
                </a:solidFill>
              </a:rPr>
              <a:t>most effective </a:t>
            </a:r>
            <a:r>
              <a:rPr lang="en-US" sz="2400" dirty="0">
                <a:solidFill>
                  <a:schemeClr val="tx1"/>
                </a:solidFill>
              </a:rPr>
              <a:t>when some force or </a:t>
            </a:r>
            <a:r>
              <a:rPr lang="en-US" sz="2400" dirty="0" smtClean="0">
                <a:solidFill>
                  <a:schemeClr val="tx1"/>
                </a:solidFill>
              </a:rPr>
              <a:t>pressure is </a:t>
            </a:r>
            <a:r>
              <a:rPr lang="en-US" sz="2400" dirty="0">
                <a:solidFill>
                  <a:schemeClr val="tx1"/>
                </a:solidFill>
              </a:rPr>
              <a:t>enacted on at least some resisters—for instance, if an employee is </a:t>
            </a:r>
            <a:r>
              <a:rPr lang="en-US" sz="2400" dirty="0" smtClean="0">
                <a:solidFill>
                  <a:schemeClr val="tx1"/>
                </a:solidFill>
              </a:rPr>
              <a:t>publicly refused </a:t>
            </a:r>
            <a:r>
              <a:rPr lang="en-US" sz="2400" dirty="0">
                <a:solidFill>
                  <a:schemeClr val="tx1"/>
                </a:solidFill>
              </a:rPr>
              <a:t>a transfer request, the threat of blocked promotions will become a </a:t>
            </a:r>
            <a:r>
              <a:rPr lang="en-US" sz="2400" dirty="0" smtClean="0">
                <a:solidFill>
                  <a:schemeClr val="tx1"/>
                </a:solidFill>
              </a:rPr>
              <a:t>real possibility </a:t>
            </a:r>
            <a:r>
              <a:rPr lang="en-US" sz="2400" dirty="0">
                <a:solidFill>
                  <a:schemeClr val="tx1"/>
                </a:solidFill>
              </a:rPr>
              <a:t>in the minds of other employees. </a:t>
            </a:r>
            <a:endParaRPr lang="en-US" sz="2400" dirty="0" smtClean="0">
              <a:solidFill>
                <a:schemeClr val="tx1"/>
              </a:solidFill>
            </a:endParaRPr>
          </a:p>
          <a:p>
            <a:pPr algn="just"/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Wingdings" pitchFamily="2" charset="2"/>
              <a:buChar char="Ø"/>
            </a:pPr>
            <a:r>
              <a:rPr lang="en-US" sz="2400" dirty="0" smtClean="0">
                <a:solidFill>
                  <a:schemeClr val="tx1"/>
                </a:solidFill>
              </a:rPr>
              <a:t>The </a:t>
            </a:r>
            <a:r>
              <a:rPr lang="en-US" sz="2400" dirty="0">
                <a:solidFill>
                  <a:schemeClr val="tx1"/>
                </a:solidFill>
              </a:rPr>
              <a:t>advantages and drawbacks </a:t>
            </a:r>
            <a:r>
              <a:rPr lang="en-US" sz="2400" dirty="0" smtClean="0">
                <a:solidFill>
                  <a:schemeClr val="tx1"/>
                </a:solidFill>
              </a:rPr>
              <a:t>of coercion </a:t>
            </a:r>
            <a:r>
              <a:rPr lang="en-US" sz="2400" dirty="0">
                <a:solidFill>
                  <a:schemeClr val="tx1"/>
                </a:solidFill>
              </a:rPr>
              <a:t>are approximately the same as for manipulation and cooptation.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685800"/>
            <a:ext cx="2133600" cy="1507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77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761999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Approaches to Managing </a:t>
            </a:r>
            <a:r>
              <a:rPr lang="en-US" sz="3200" dirty="0"/>
              <a:t> </a:t>
            </a:r>
            <a:r>
              <a:rPr lang="en-US" sz="3200" dirty="0" smtClean="0"/>
              <a:t>Change                 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914400"/>
            <a:ext cx="8458200" cy="5791200"/>
          </a:xfrm>
        </p:spPr>
        <p:txBody>
          <a:bodyPr>
            <a:normAutofit/>
          </a:bodyPr>
          <a:lstStyle/>
          <a:p>
            <a:pPr algn="just"/>
            <a:r>
              <a:rPr lang="en-US" sz="2000" b="1" dirty="0">
                <a:solidFill>
                  <a:srgbClr val="00B050"/>
                </a:solidFill>
              </a:rPr>
              <a:t>Lewin’s three-Step model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tx1"/>
                </a:solidFill>
              </a:rPr>
              <a:t>successful </a:t>
            </a:r>
            <a:r>
              <a:rPr lang="en-US" sz="2000" dirty="0">
                <a:solidFill>
                  <a:schemeClr val="tx1"/>
                </a:solidFill>
              </a:rPr>
              <a:t>change in organizations should follow </a:t>
            </a:r>
            <a:r>
              <a:rPr lang="en-US" sz="2000" dirty="0" smtClean="0">
                <a:solidFill>
                  <a:schemeClr val="tx1"/>
                </a:solidFill>
              </a:rPr>
              <a:t>three steps</a:t>
            </a:r>
            <a:r>
              <a:rPr lang="en-US" sz="2000" dirty="0">
                <a:solidFill>
                  <a:schemeClr val="tx1"/>
                </a:solidFill>
              </a:rPr>
              <a:t>: </a:t>
            </a:r>
            <a:r>
              <a:rPr lang="en-US" sz="2000" i="1" dirty="0">
                <a:solidFill>
                  <a:schemeClr val="tx1"/>
                </a:solidFill>
              </a:rPr>
              <a:t>unfreezing </a:t>
            </a:r>
            <a:r>
              <a:rPr lang="en-US" sz="2000" dirty="0">
                <a:solidFill>
                  <a:schemeClr val="tx1"/>
                </a:solidFill>
              </a:rPr>
              <a:t>the status quo, </a:t>
            </a:r>
            <a:r>
              <a:rPr lang="en-US" sz="2000" i="1" dirty="0">
                <a:solidFill>
                  <a:schemeClr val="tx1"/>
                </a:solidFill>
              </a:rPr>
              <a:t>movement </a:t>
            </a:r>
            <a:r>
              <a:rPr lang="en-US" sz="2000" dirty="0">
                <a:solidFill>
                  <a:schemeClr val="tx1"/>
                </a:solidFill>
              </a:rPr>
              <a:t>to a desired end state, and </a:t>
            </a:r>
            <a:r>
              <a:rPr lang="en-US" sz="2000" i="1" dirty="0">
                <a:solidFill>
                  <a:schemeClr val="tx1"/>
                </a:solidFill>
              </a:rPr>
              <a:t>refreezing </a:t>
            </a:r>
            <a:r>
              <a:rPr lang="en-US" sz="2000" dirty="0" smtClean="0">
                <a:solidFill>
                  <a:schemeClr val="tx1"/>
                </a:solidFill>
              </a:rPr>
              <a:t>the new </a:t>
            </a:r>
            <a:r>
              <a:rPr lang="en-US" sz="2000" dirty="0">
                <a:solidFill>
                  <a:schemeClr val="tx1"/>
                </a:solidFill>
              </a:rPr>
              <a:t>change to make it </a:t>
            </a:r>
            <a:r>
              <a:rPr lang="en-US" sz="2000" dirty="0" smtClean="0">
                <a:solidFill>
                  <a:schemeClr val="tx1"/>
                </a:solidFill>
              </a:rPr>
              <a:t>permanent.</a:t>
            </a:r>
            <a:endParaRPr lang="en-US" sz="2000" dirty="0">
              <a:solidFill>
                <a:schemeClr val="tx1"/>
              </a:solidFill>
            </a:endParaRP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2000" dirty="0">
                <a:solidFill>
                  <a:schemeClr val="tx1"/>
                </a:solidFill>
              </a:rPr>
              <a:t>By definition, status quo is an equilibrium state. To move from </a:t>
            </a:r>
            <a:r>
              <a:rPr lang="en-US" sz="2000" dirty="0" smtClean="0">
                <a:solidFill>
                  <a:schemeClr val="tx1"/>
                </a:solidFill>
              </a:rPr>
              <a:t>equilibrium— to </a:t>
            </a:r>
            <a:r>
              <a:rPr lang="en-US" sz="2000" dirty="0">
                <a:solidFill>
                  <a:schemeClr val="tx1"/>
                </a:solidFill>
              </a:rPr>
              <a:t>overcome the pressures of both individual resistance and group </a:t>
            </a:r>
            <a:r>
              <a:rPr lang="en-US" sz="2000" dirty="0" smtClean="0">
                <a:solidFill>
                  <a:schemeClr val="tx1"/>
                </a:solidFill>
              </a:rPr>
              <a:t>conformity— unfreezing </a:t>
            </a:r>
            <a:r>
              <a:rPr lang="en-US" sz="2000" dirty="0">
                <a:solidFill>
                  <a:schemeClr val="tx1"/>
                </a:solidFill>
              </a:rPr>
              <a:t>must happen in one of three ways </a:t>
            </a:r>
            <a:endParaRPr lang="en-US" sz="2000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Wingdings" pitchFamily="2" charset="2"/>
              <a:buChar char="§"/>
            </a:pPr>
            <a:r>
              <a:rPr lang="en-US" sz="2000" dirty="0" smtClean="0">
                <a:solidFill>
                  <a:schemeClr val="tx1"/>
                </a:solidFill>
              </a:rPr>
              <a:t>For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smtClean="0">
                <a:solidFill>
                  <a:schemeClr val="tx1"/>
                </a:solidFill>
              </a:rPr>
              <a:t>one</a:t>
            </a:r>
            <a:r>
              <a:rPr lang="en-US" sz="2000" dirty="0">
                <a:solidFill>
                  <a:schemeClr val="tx1"/>
                </a:solidFill>
              </a:rPr>
              <a:t>, the </a:t>
            </a:r>
            <a:r>
              <a:rPr lang="en-US" sz="2000" b="1" dirty="0">
                <a:solidFill>
                  <a:schemeClr val="tx1"/>
                </a:solidFill>
              </a:rPr>
              <a:t>driving forces</a:t>
            </a:r>
            <a:r>
              <a:rPr lang="en-US" sz="2000" dirty="0">
                <a:solidFill>
                  <a:schemeClr val="tx1"/>
                </a:solidFill>
              </a:rPr>
              <a:t>, which direct behavior away from the status quo, can </a:t>
            </a:r>
            <a:r>
              <a:rPr lang="en-US" sz="2000" dirty="0" smtClean="0">
                <a:solidFill>
                  <a:schemeClr val="tx1"/>
                </a:solidFill>
              </a:rPr>
              <a:t>be increased</a:t>
            </a:r>
            <a:r>
              <a:rPr lang="en-US" sz="2000" dirty="0">
                <a:solidFill>
                  <a:schemeClr val="tx1"/>
                </a:solidFill>
              </a:rPr>
              <a:t>. For another, the </a:t>
            </a:r>
            <a:r>
              <a:rPr lang="en-US" sz="2000" b="1" dirty="0">
                <a:solidFill>
                  <a:schemeClr val="tx1"/>
                </a:solidFill>
              </a:rPr>
              <a:t>restraining forces</a:t>
            </a:r>
            <a:r>
              <a:rPr lang="en-US" sz="2000" dirty="0">
                <a:solidFill>
                  <a:schemeClr val="tx1"/>
                </a:solidFill>
              </a:rPr>
              <a:t>, which hinder movement </a:t>
            </a:r>
            <a:r>
              <a:rPr lang="en-US" sz="2000" dirty="0" smtClean="0">
                <a:solidFill>
                  <a:schemeClr val="tx1"/>
                </a:solidFill>
              </a:rPr>
              <a:t>away from </a:t>
            </a:r>
            <a:r>
              <a:rPr lang="en-US" sz="2000" dirty="0">
                <a:solidFill>
                  <a:schemeClr val="tx1"/>
                </a:solidFill>
              </a:rPr>
              <a:t>equilibrium, can be decreased. A third alternative is to combine the </a:t>
            </a:r>
            <a:r>
              <a:rPr lang="en-US" sz="2000" dirty="0" smtClean="0">
                <a:solidFill>
                  <a:schemeClr val="tx1"/>
                </a:solidFill>
              </a:rPr>
              <a:t>first two </a:t>
            </a:r>
            <a:r>
              <a:rPr lang="en-US" sz="2000" dirty="0">
                <a:solidFill>
                  <a:schemeClr val="tx1"/>
                </a:solidFill>
              </a:rPr>
              <a:t>approaches. </a:t>
            </a:r>
            <a:endParaRPr lang="en-US" sz="2000" dirty="0" smtClean="0">
              <a:solidFill>
                <a:schemeClr val="tx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52400"/>
            <a:ext cx="1800225" cy="10729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4513138"/>
            <a:ext cx="6019800" cy="2287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56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761999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Approaches to Managing </a:t>
            </a:r>
            <a:r>
              <a:rPr lang="en-US" sz="3200" dirty="0"/>
              <a:t> </a:t>
            </a:r>
            <a:r>
              <a:rPr lang="en-US" sz="3200" dirty="0" smtClean="0"/>
              <a:t>Change                 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914400"/>
            <a:ext cx="8458200" cy="5791200"/>
          </a:xfrm>
        </p:spPr>
        <p:txBody>
          <a:bodyPr>
            <a:normAutofit/>
          </a:bodyPr>
          <a:lstStyle/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8" y="1433513"/>
            <a:ext cx="8924925" cy="399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59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761999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Approaches to Managing </a:t>
            </a:r>
            <a:r>
              <a:rPr lang="en-US" sz="3200" dirty="0"/>
              <a:t> </a:t>
            </a:r>
            <a:r>
              <a:rPr lang="en-US" sz="3200" dirty="0" smtClean="0"/>
              <a:t>Change                 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914400"/>
            <a:ext cx="8458200" cy="5791200"/>
          </a:xfrm>
        </p:spPr>
        <p:txBody>
          <a:bodyPr>
            <a:normAutofit/>
          </a:bodyPr>
          <a:lstStyle/>
          <a:p>
            <a:pPr algn="just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19250"/>
            <a:ext cx="7620000" cy="361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446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380999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Approach to change cont..</a:t>
            </a:r>
            <a:endParaRPr lang="en-US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685800"/>
            <a:ext cx="8458200" cy="60198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</a:rPr>
              <a:t>Kotter’s eight-Step plan</a:t>
            </a: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John Kotter of Harvard Business School built on Lewin’s three-step model </a:t>
            </a:r>
            <a:r>
              <a:rPr lang="en-US" dirty="0" smtClean="0">
                <a:solidFill>
                  <a:schemeClr val="tx1"/>
                </a:solidFill>
              </a:rPr>
              <a:t>to create </a:t>
            </a:r>
            <a:r>
              <a:rPr lang="en-US" dirty="0">
                <a:solidFill>
                  <a:schemeClr val="tx1"/>
                </a:solidFill>
              </a:rPr>
              <a:t>a more detailed approach for implementing </a:t>
            </a:r>
            <a:r>
              <a:rPr lang="en-US" dirty="0" smtClean="0">
                <a:solidFill>
                  <a:schemeClr val="tx1"/>
                </a:solidFill>
              </a:rPr>
              <a:t>change. </a:t>
            </a:r>
            <a:endParaRPr lang="en-US" dirty="0" smtClean="0">
              <a:solidFill>
                <a:schemeClr val="tx1"/>
              </a:solidFill>
            </a:endParaRPr>
          </a:p>
          <a:p>
            <a:pPr algn="just"/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Kotter </a:t>
            </a:r>
            <a:r>
              <a:rPr lang="en-US" dirty="0">
                <a:solidFill>
                  <a:schemeClr val="tx1"/>
                </a:solidFill>
              </a:rPr>
              <a:t>began </a:t>
            </a:r>
            <a:r>
              <a:rPr lang="en-US" dirty="0" smtClean="0">
                <a:solidFill>
                  <a:schemeClr val="tx1"/>
                </a:solidFill>
              </a:rPr>
              <a:t>by listing </a:t>
            </a:r>
            <a:r>
              <a:rPr lang="en-US" dirty="0">
                <a:solidFill>
                  <a:schemeClr val="tx1"/>
                </a:solidFill>
              </a:rPr>
              <a:t>common mistakes managers make when trying to initiate change. </a:t>
            </a: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They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may </a:t>
            </a:r>
            <a:r>
              <a:rPr lang="en-US" dirty="0">
                <a:solidFill>
                  <a:schemeClr val="tx1"/>
                </a:solidFill>
              </a:rPr>
              <a:t>fail to create a sense of urgency about the need for change, a coalition </a:t>
            </a:r>
            <a:r>
              <a:rPr lang="en-US" dirty="0" smtClean="0">
                <a:solidFill>
                  <a:schemeClr val="tx1"/>
                </a:solidFill>
              </a:rPr>
              <a:t>for managing </a:t>
            </a:r>
            <a:r>
              <a:rPr lang="en-US" dirty="0">
                <a:solidFill>
                  <a:schemeClr val="tx1"/>
                </a:solidFill>
              </a:rPr>
              <a:t>the change process, a vision for change and effectively </a:t>
            </a:r>
            <a:r>
              <a:rPr lang="en-US" dirty="0" smtClean="0">
                <a:solidFill>
                  <a:schemeClr val="tx1"/>
                </a:solidFill>
              </a:rPr>
              <a:t>communicate it</a:t>
            </a:r>
            <a:r>
              <a:rPr lang="en-US" dirty="0">
                <a:solidFill>
                  <a:schemeClr val="tx1"/>
                </a:solidFill>
              </a:rPr>
              <a:t>, and/or to anchor the changes into the organization’s culture. </a:t>
            </a: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itchFamily="34" charset="0"/>
              <a:buChar char="•"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They </a:t>
            </a:r>
            <a:r>
              <a:rPr lang="en-US" dirty="0">
                <a:solidFill>
                  <a:schemeClr val="tx1"/>
                </a:solidFill>
              </a:rPr>
              <a:t>also </a:t>
            </a:r>
            <a:r>
              <a:rPr lang="en-US" dirty="0" smtClean="0">
                <a:solidFill>
                  <a:schemeClr val="tx1"/>
                </a:solidFill>
              </a:rPr>
              <a:t>may fail </a:t>
            </a:r>
            <a:r>
              <a:rPr lang="en-US" dirty="0">
                <a:solidFill>
                  <a:schemeClr val="tx1"/>
                </a:solidFill>
              </a:rPr>
              <a:t>to remove obstacles that could impede the vision’s achievement and/or </a:t>
            </a:r>
            <a:r>
              <a:rPr lang="en-US" dirty="0" smtClean="0">
                <a:solidFill>
                  <a:schemeClr val="tx1"/>
                </a:solidFill>
              </a:rPr>
              <a:t>provide short-term </a:t>
            </a:r>
            <a:r>
              <a:rPr lang="en-US" dirty="0">
                <a:solidFill>
                  <a:schemeClr val="tx1"/>
                </a:solidFill>
              </a:rPr>
              <a:t>and achievable goals. Finally, they may </a:t>
            </a:r>
            <a:r>
              <a:rPr lang="en-US" dirty="0">
                <a:solidFill>
                  <a:srgbClr val="00B050"/>
                </a:solidFill>
              </a:rPr>
              <a:t>declare victory too soon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marL="457200" indent="-457200" algn="just">
              <a:buFont typeface="Arial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Kotter established eight sequential steps to overcome these problems.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757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3809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Approaches cont.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762000"/>
            <a:ext cx="8458200" cy="5943600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</a:rPr>
              <a:t>Kotter’s eight-Step plan for implementing Change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1. Establish a sense of urgency by creating a compelling reason for why change is needed.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2. Form a coalition with enough power to lead the change.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3. Create a new vision to direct the change and strategies for achieving the vision.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4. Communicate the vision throughout the organization.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5. Empower others to act on the vision by removing barriers to change and </a:t>
            </a:r>
            <a:r>
              <a:rPr lang="en-US" dirty="0" smtClean="0">
                <a:solidFill>
                  <a:schemeClr val="tx1"/>
                </a:solidFill>
              </a:rPr>
              <a:t>encouraging risk </a:t>
            </a:r>
            <a:r>
              <a:rPr lang="en-US" dirty="0">
                <a:solidFill>
                  <a:schemeClr val="tx1"/>
                </a:solidFill>
              </a:rPr>
              <a:t>taking and creative problem solving.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6. Plan for, create, and reward short-term “wins” that move the organization toward </a:t>
            </a:r>
            <a:r>
              <a:rPr lang="en-US" dirty="0" smtClean="0">
                <a:solidFill>
                  <a:schemeClr val="tx1"/>
                </a:solidFill>
              </a:rPr>
              <a:t>the new </a:t>
            </a:r>
            <a:r>
              <a:rPr lang="en-US" dirty="0">
                <a:solidFill>
                  <a:schemeClr val="tx1"/>
                </a:solidFill>
              </a:rPr>
              <a:t>vision.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7. Consolidate improvements, reassess changes, and make necessary adjustments in </a:t>
            </a:r>
            <a:r>
              <a:rPr lang="en-US" dirty="0" smtClean="0">
                <a:solidFill>
                  <a:schemeClr val="tx1"/>
                </a:solidFill>
              </a:rPr>
              <a:t>the new </a:t>
            </a:r>
            <a:r>
              <a:rPr lang="en-US" dirty="0">
                <a:solidFill>
                  <a:schemeClr val="tx1"/>
                </a:solidFill>
              </a:rPr>
              <a:t>programs.</a:t>
            </a:r>
          </a:p>
          <a:p>
            <a:pPr algn="just"/>
            <a:r>
              <a:rPr lang="en-US" dirty="0">
                <a:solidFill>
                  <a:schemeClr val="tx1"/>
                </a:solidFill>
              </a:rPr>
              <a:t>8. Reinforce the changes by demonstrating the relationship between new behaviors </a:t>
            </a:r>
            <a:r>
              <a:rPr lang="en-US" dirty="0" smtClean="0">
                <a:solidFill>
                  <a:schemeClr val="tx1"/>
                </a:solidFill>
              </a:rPr>
              <a:t>and organizational </a:t>
            </a:r>
            <a:r>
              <a:rPr lang="en-US" dirty="0">
                <a:solidFill>
                  <a:schemeClr val="tx1"/>
                </a:solidFill>
              </a:rPr>
              <a:t>success.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084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380999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b="1" dirty="0" smtClean="0"/>
              <a:t>Action research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762000"/>
            <a:ext cx="8458200" cy="5943600"/>
          </a:xfrm>
        </p:spPr>
        <p:txBody>
          <a:bodyPr>
            <a:noAutofit/>
          </a:bodyPr>
          <a:lstStyle/>
          <a:p>
            <a:pPr algn="just"/>
            <a:r>
              <a:rPr lang="en-US" sz="1800" dirty="0" smtClean="0">
                <a:solidFill>
                  <a:srgbClr val="FF0000"/>
                </a:solidFill>
              </a:rPr>
              <a:t>Is A change process </a:t>
            </a:r>
            <a:r>
              <a:rPr lang="en-US" sz="1800" dirty="0" smtClean="0">
                <a:solidFill>
                  <a:schemeClr val="tx1"/>
                </a:solidFill>
              </a:rPr>
              <a:t>based on the systematic collection of data and selection of a change action based on what the analyzed data indicate. </a:t>
            </a:r>
          </a:p>
          <a:p>
            <a:pPr algn="just"/>
            <a:r>
              <a:rPr lang="en-US" sz="1800" dirty="0" smtClean="0">
                <a:solidFill>
                  <a:schemeClr val="tx1"/>
                </a:solidFill>
              </a:rPr>
              <a:t>It provides a scientific methodology for managing planned change.</a:t>
            </a:r>
          </a:p>
          <a:p>
            <a:pPr algn="just"/>
            <a:r>
              <a:rPr lang="en-US" sz="1800" dirty="0" smtClean="0">
                <a:solidFill>
                  <a:schemeClr val="tx1"/>
                </a:solidFill>
              </a:rPr>
              <a:t>Action research consists of five steps : diagnosis, analysis, feedback, action, and evaluation.</a:t>
            </a:r>
          </a:p>
          <a:p>
            <a:pPr algn="just"/>
            <a:r>
              <a:rPr lang="en-US" sz="1800" dirty="0" smtClean="0">
                <a:solidFill>
                  <a:srgbClr val="FF0000"/>
                </a:solidFill>
              </a:rPr>
              <a:t>1</a:t>
            </a:r>
            <a:r>
              <a:rPr lang="en-US" sz="1800" baseline="30000" dirty="0" smtClean="0">
                <a:solidFill>
                  <a:srgbClr val="FF0000"/>
                </a:solidFill>
              </a:rPr>
              <a:t>st</a:t>
            </a:r>
            <a:r>
              <a:rPr lang="en-US" sz="1800" dirty="0" smtClean="0">
                <a:solidFill>
                  <a:srgbClr val="FF0000"/>
                </a:solidFill>
              </a:rPr>
              <a:t> diagnosis </a:t>
            </a:r>
            <a:r>
              <a:rPr lang="en-US" sz="1800" dirty="0" smtClean="0">
                <a:solidFill>
                  <a:schemeClr val="tx1"/>
                </a:solidFill>
              </a:rPr>
              <a:t>gathering information about problems, concerns, and needed changes from members of the organization. The change agent asks questions, reviews records, and interviews employees, actively listening to their concerns.</a:t>
            </a:r>
          </a:p>
          <a:p>
            <a:pPr algn="just"/>
            <a:r>
              <a:rPr lang="en-US" sz="1800" dirty="0" smtClean="0">
                <a:solidFill>
                  <a:srgbClr val="FF0000"/>
                </a:solidFill>
              </a:rPr>
              <a:t>2</a:t>
            </a:r>
            <a:r>
              <a:rPr lang="en-US" sz="1800" baseline="30000" dirty="0" smtClean="0">
                <a:solidFill>
                  <a:srgbClr val="FF0000"/>
                </a:solidFill>
              </a:rPr>
              <a:t>nd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i="1" dirty="0" smtClean="0">
                <a:solidFill>
                  <a:srgbClr val="FF0000"/>
                </a:solidFill>
              </a:rPr>
              <a:t>analysis</a:t>
            </a:r>
            <a:r>
              <a:rPr lang="en-US" sz="1800" i="1" dirty="0" smtClean="0">
                <a:solidFill>
                  <a:schemeClr val="tx1"/>
                </a:solidFill>
              </a:rPr>
              <a:t>. </a:t>
            </a:r>
            <a:r>
              <a:rPr lang="en-US" sz="1800" dirty="0" smtClean="0">
                <a:solidFill>
                  <a:schemeClr val="tx1"/>
                </a:solidFill>
              </a:rPr>
              <a:t>What problems do people key in on? What patterns do these problems seem to take? The change agent synthesizes this information into primary concerns, problem areas, and possible actions.</a:t>
            </a:r>
          </a:p>
          <a:p>
            <a:pPr algn="just"/>
            <a:r>
              <a:rPr lang="en-US" sz="1800" dirty="0" smtClean="0">
                <a:solidFill>
                  <a:schemeClr val="tx1"/>
                </a:solidFill>
              </a:rPr>
              <a:t>3</a:t>
            </a:r>
            <a:r>
              <a:rPr lang="en-US" sz="1800" baseline="30000" dirty="0" smtClean="0">
                <a:solidFill>
                  <a:schemeClr val="tx1"/>
                </a:solidFill>
              </a:rPr>
              <a:t>rd</a:t>
            </a:r>
            <a:r>
              <a:rPr lang="en-US" sz="1800" dirty="0" smtClean="0">
                <a:solidFill>
                  <a:schemeClr val="tx1"/>
                </a:solidFill>
              </a:rPr>
              <a:t> step—</a:t>
            </a:r>
            <a:r>
              <a:rPr lang="en-US" sz="1800" i="1" dirty="0" smtClean="0">
                <a:solidFill>
                  <a:srgbClr val="FF0000"/>
                </a:solidFill>
              </a:rPr>
              <a:t>feedback</a:t>
            </a:r>
            <a:r>
              <a:rPr lang="en-US" sz="1800" dirty="0" smtClean="0">
                <a:solidFill>
                  <a:schemeClr val="tx1"/>
                </a:solidFill>
              </a:rPr>
              <a:t>—requires sharing with employees what has been found from the first and second steps. </a:t>
            </a:r>
          </a:p>
          <a:p>
            <a:pPr algn="just"/>
            <a:r>
              <a:rPr lang="en-US" sz="1800" dirty="0" smtClean="0">
                <a:solidFill>
                  <a:schemeClr val="tx1"/>
                </a:solidFill>
              </a:rPr>
              <a:t>4</a:t>
            </a:r>
            <a:r>
              <a:rPr lang="en-US" sz="1800" baseline="30000" dirty="0" smtClean="0">
                <a:solidFill>
                  <a:schemeClr val="tx1"/>
                </a:solidFill>
              </a:rPr>
              <a:t>th</a:t>
            </a:r>
            <a:r>
              <a:rPr lang="en-US" sz="1800" dirty="0" smtClean="0">
                <a:solidFill>
                  <a:schemeClr val="tx1"/>
                </a:solidFill>
              </a:rPr>
              <a:t> </a:t>
            </a:r>
            <a:r>
              <a:rPr lang="en-US" sz="1800" dirty="0" smtClean="0">
                <a:solidFill>
                  <a:schemeClr val="tx1"/>
                </a:solidFill>
              </a:rPr>
              <a:t>the employees, with the help of the change agent, </a:t>
            </a:r>
            <a:r>
              <a:rPr lang="en-US" sz="1800" b="1" dirty="0" smtClean="0">
                <a:solidFill>
                  <a:srgbClr val="FF0000"/>
                </a:solidFill>
              </a:rPr>
              <a:t>develop action </a:t>
            </a:r>
            <a:r>
              <a:rPr lang="en-US" sz="1800" dirty="0" smtClean="0">
                <a:solidFill>
                  <a:schemeClr val="tx1"/>
                </a:solidFill>
              </a:rPr>
              <a:t>plans for bringing about needed change.</a:t>
            </a:r>
          </a:p>
          <a:p>
            <a:pPr algn="just"/>
            <a:r>
              <a:rPr lang="en-US" sz="1800" dirty="0" smtClean="0">
                <a:solidFill>
                  <a:schemeClr val="tx1"/>
                </a:solidFill>
              </a:rPr>
              <a:t>The final step,</a:t>
            </a:r>
            <a:r>
              <a:rPr lang="en-US" sz="1800" b="1" dirty="0" smtClean="0">
                <a:solidFill>
                  <a:srgbClr val="FF0000"/>
                </a:solidFill>
              </a:rPr>
              <a:t> </a:t>
            </a:r>
            <a:r>
              <a:rPr lang="en-US" sz="1800" b="1" i="1" dirty="0" smtClean="0">
                <a:solidFill>
                  <a:srgbClr val="FF0000"/>
                </a:solidFill>
              </a:rPr>
              <a:t>evaluation </a:t>
            </a:r>
            <a:r>
              <a:rPr lang="en-US" sz="1800" dirty="0" smtClean="0">
                <a:solidFill>
                  <a:schemeClr val="tx1"/>
                </a:solidFill>
              </a:rPr>
              <a:t>of the action plan’s effectiveness, using the initial data gathered as a benchmark.</a:t>
            </a: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220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600" b="1" dirty="0" smtClean="0"/>
              <a:t>Organizational Development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609600"/>
            <a:ext cx="8458200" cy="6096000"/>
          </a:xfrm>
        </p:spPr>
        <p:txBody>
          <a:bodyPr>
            <a:normAutofit/>
          </a:bodyPr>
          <a:lstStyle/>
          <a:p>
            <a:pPr marL="342900" indent="-342900" algn="just">
              <a:buFont typeface="Courier New" pitchFamily="49" charset="0"/>
              <a:buChar char="o"/>
            </a:pPr>
            <a:r>
              <a:rPr lang="en-US" sz="2400" dirty="0" smtClean="0">
                <a:solidFill>
                  <a:schemeClr val="tx1"/>
                </a:solidFill>
              </a:rPr>
              <a:t>A collection of change methods that try to improve organizational effectiveness and employee well-being.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 algn="just">
              <a:buFont typeface="Courier New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OD methods value human and organizational growth, collaborative and </a:t>
            </a:r>
            <a:r>
              <a:rPr lang="en-US" sz="2400" dirty="0" smtClean="0">
                <a:solidFill>
                  <a:schemeClr val="tx1"/>
                </a:solidFill>
              </a:rPr>
              <a:t>participative processes</a:t>
            </a:r>
            <a:r>
              <a:rPr lang="en-US" sz="2400" dirty="0">
                <a:solidFill>
                  <a:schemeClr val="tx1"/>
                </a:solidFill>
              </a:rPr>
              <a:t>, and a spirit of </a:t>
            </a:r>
            <a:r>
              <a:rPr lang="en-US" sz="2400" dirty="0" smtClean="0">
                <a:solidFill>
                  <a:schemeClr val="tx1"/>
                </a:solidFill>
              </a:rPr>
              <a:t>inquiry.</a:t>
            </a:r>
          </a:p>
          <a:p>
            <a:pPr marL="342900" indent="-342900" algn="just">
              <a:buFont typeface="Courier New" pitchFamily="49" charset="0"/>
              <a:buChar char="o"/>
            </a:pPr>
            <a:r>
              <a:rPr lang="en-US" sz="2400" dirty="0" smtClean="0">
                <a:solidFill>
                  <a:schemeClr val="tx1"/>
                </a:solidFill>
              </a:rPr>
              <a:t>Contemporary </a:t>
            </a:r>
            <a:r>
              <a:rPr lang="en-US" sz="2400" dirty="0">
                <a:solidFill>
                  <a:schemeClr val="tx1"/>
                </a:solidFill>
              </a:rPr>
              <a:t>OD borrows </a:t>
            </a:r>
            <a:r>
              <a:rPr lang="en-US" sz="2400" dirty="0" smtClean="0">
                <a:solidFill>
                  <a:schemeClr val="tx1"/>
                </a:solidFill>
              </a:rPr>
              <a:t>heavily from </a:t>
            </a:r>
            <a:r>
              <a:rPr lang="en-US" sz="2400" dirty="0">
                <a:solidFill>
                  <a:schemeClr val="tx1"/>
                </a:solidFill>
              </a:rPr>
              <a:t>postmodern philosophy in placing heavy emphasis on the subjective </a:t>
            </a:r>
            <a:r>
              <a:rPr lang="en-US" sz="2400" dirty="0" smtClean="0">
                <a:solidFill>
                  <a:schemeClr val="tx1"/>
                </a:solidFill>
              </a:rPr>
              <a:t>ways people </a:t>
            </a:r>
            <a:r>
              <a:rPr lang="en-US" sz="2400" dirty="0">
                <a:solidFill>
                  <a:schemeClr val="tx1"/>
                </a:solidFill>
              </a:rPr>
              <a:t>see and make sense of their work environment. The change agent may</a:t>
            </a:r>
          </a:p>
          <a:p>
            <a:pPr marL="342900" indent="-342900" algn="just">
              <a:buFont typeface="Courier New" pitchFamily="49" charset="0"/>
              <a:buChar char="o"/>
            </a:pPr>
            <a:r>
              <a:rPr lang="en-US" sz="2400" dirty="0">
                <a:solidFill>
                  <a:schemeClr val="tx1"/>
                </a:solidFill>
              </a:rPr>
              <a:t>take the lead in OD, but there is a strong emphasis on collaboration.</a:t>
            </a:r>
          </a:p>
          <a:p>
            <a:pPr marL="342900" indent="-342900" algn="just">
              <a:buFont typeface="Courier New" pitchFamily="49" charset="0"/>
              <a:buChar char="o"/>
            </a:pPr>
            <a:r>
              <a:rPr lang="en-US" sz="2400" dirty="0" smtClean="0">
                <a:solidFill>
                  <a:schemeClr val="tx1"/>
                </a:solidFill>
              </a:rPr>
              <a:t>Here </a:t>
            </a:r>
            <a:r>
              <a:rPr lang="en-US" sz="2400" dirty="0">
                <a:solidFill>
                  <a:schemeClr val="tx1"/>
                </a:solidFill>
              </a:rPr>
              <a:t>are </a:t>
            </a:r>
            <a:r>
              <a:rPr lang="en-US" sz="2400" dirty="0" smtClean="0">
                <a:solidFill>
                  <a:schemeClr val="tx1"/>
                </a:solidFill>
              </a:rPr>
              <a:t>the </a:t>
            </a:r>
            <a:r>
              <a:rPr lang="en-US" sz="2400" dirty="0" smtClean="0">
                <a:solidFill>
                  <a:schemeClr val="tx1"/>
                </a:solidFill>
              </a:rPr>
              <a:t>six</a:t>
            </a:r>
            <a:r>
              <a:rPr lang="en-US" sz="2400" dirty="0"/>
              <a:t> </a:t>
            </a:r>
            <a:r>
              <a:rPr lang="en-US" sz="2400" dirty="0" smtClean="0">
                <a:solidFill>
                  <a:schemeClr val="tx1"/>
                </a:solidFill>
              </a:rPr>
              <a:t>OD </a:t>
            </a:r>
            <a:r>
              <a:rPr lang="en-US" sz="2400" dirty="0">
                <a:solidFill>
                  <a:schemeClr val="tx1"/>
                </a:solidFill>
              </a:rPr>
              <a:t>techniques or interventions for bringing about </a:t>
            </a:r>
            <a:r>
              <a:rPr lang="en-US" sz="2400" dirty="0" smtClean="0">
                <a:solidFill>
                  <a:schemeClr val="tx1"/>
                </a:solidFill>
              </a:rPr>
              <a:t>change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646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3809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OD cont..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762000"/>
            <a:ext cx="8458200" cy="5943600"/>
          </a:xfrm>
        </p:spPr>
        <p:txBody>
          <a:bodyPr>
            <a:norm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Sensitivity </a:t>
            </a:r>
            <a:r>
              <a:rPr lang="en-US" sz="2400" b="1" dirty="0" smtClean="0">
                <a:solidFill>
                  <a:srgbClr val="FF0000"/>
                </a:solidFill>
              </a:rPr>
              <a:t>training:- </a:t>
            </a:r>
            <a:r>
              <a:rPr lang="en-US" sz="2400" dirty="0" smtClean="0">
                <a:solidFill>
                  <a:schemeClr val="tx1"/>
                </a:solidFill>
              </a:rPr>
              <a:t>refer </a:t>
            </a:r>
            <a:r>
              <a:rPr lang="en-US" sz="2400" dirty="0">
                <a:solidFill>
                  <a:schemeClr val="tx1"/>
                </a:solidFill>
              </a:rPr>
              <a:t>to an </a:t>
            </a:r>
            <a:r>
              <a:rPr lang="en-US" sz="2400" dirty="0" smtClean="0">
                <a:solidFill>
                  <a:schemeClr val="tx1"/>
                </a:solidFill>
              </a:rPr>
              <a:t>early method </a:t>
            </a:r>
            <a:r>
              <a:rPr lang="en-US" sz="2400" dirty="0">
                <a:solidFill>
                  <a:schemeClr val="tx1"/>
                </a:solidFill>
              </a:rPr>
              <a:t>of changing behavior through unstructured group </a:t>
            </a:r>
            <a:r>
              <a:rPr lang="en-US" sz="2400" dirty="0" smtClean="0">
                <a:solidFill>
                  <a:schemeClr val="tx1"/>
                </a:solidFill>
              </a:rPr>
              <a:t>interaction.</a:t>
            </a:r>
            <a:endParaRPr lang="en-US" sz="2400" dirty="0">
              <a:solidFill>
                <a:schemeClr val="tx1"/>
              </a:solidFill>
            </a:endParaRPr>
          </a:p>
          <a:p>
            <a:pPr marL="342900" indent="-342900" algn="just">
              <a:buFont typeface="Wingdings" pitchFamily="2" charset="2"/>
              <a:buChar char="v"/>
            </a:pPr>
            <a:r>
              <a:rPr lang="en-US" sz="2400" dirty="0">
                <a:solidFill>
                  <a:schemeClr val="tx1"/>
                </a:solidFill>
              </a:rPr>
              <a:t>Current organizational interventions such as diversity training, </a:t>
            </a:r>
            <a:r>
              <a:rPr lang="en-US" sz="2400" dirty="0" smtClean="0">
                <a:solidFill>
                  <a:schemeClr val="tx1"/>
                </a:solidFill>
              </a:rPr>
              <a:t>executive coaching</a:t>
            </a:r>
            <a:r>
              <a:rPr lang="en-US" sz="2400" dirty="0">
                <a:solidFill>
                  <a:schemeClr val="tx1"/>
                </a:solidFill>
              </a:rPr>
              <a:t>, and team-building exercises are descendants of this early OD </a:t>
            </a:r>
            <a:r>
              <a:rPr lang="en-US" sz="2400" dirty="0" smtClean="0">
                <a:solidFill>
                  <a:schemeClr val="tx1"/>
                </a:solidFill>
              </a:rPr>
              <a:t>intervention technique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</a:rPr>
              <a:t>Survey </a:t>
            </a:r>
            <a:r>
              <a:rPr lang="en-US" sz="2400" b="1" dirty="0" smtClean="0">
                <a:solidFill>
                  <a:srgbClr val="FF0000"/>
                </a:solidFill>
              </a:rPr>
              <a:t>feedback:- </a:t>
            </a:r>
            <a:r>
              <a:rPr lang="en-US" sz="2400" dirty="0" smtClean="0">
                <a:solidFill>
                  <a:schemeClr val="tx1"/>
                </a:solidFill>
              </a:rPr>
              <a:t>tool </a:t>
            </a:r>
            <a:r>
              <a:rPr lang="en-US" sz="2400" dirty="0">
                <a:solidFill>
                  <a:schemeClr val="tx1"/>
                </a:solidFill>
              </a:rPr>
              <a:t>for assessing the attitudes of organizational </a:t>
            </a:r>
            <a:r>
              <a:rPr lang="en-US" sz="2400" dirty="0" smtClean="0">
                <a:solidFill>
                  <a:schemeClr val="tx1"/>
                </a:solidFill>
              </a:rPr>
              <a:t>members, identifying </a:t>
            </a:r>
            <a:r>
              <a:rPr lang="en-US" sz="2400" dirty="0">
                <a:solidFill>
                  <a:schemeClr val="tx1"/>
                </a:solidFill>
              </a:rPr>
              <a:t>discrepancies among member perceptions, and solving </a:t>
            </a:r>
            <a:r>
              <a:rPr lang="en-US" sz="2400" dirty="0" smtClean="0">
                <a:solidFill>
                  <a:schemeClr val="tx1"/>
                </a:solidFill>
              </a:rPr>
              <a:t>differences </a:t>
            </a:r>
            <a:endParaRPr lang="en-US" sz="2400" dirty="0" smtClean="0">
              <a:solidFill>
                <a:schemeClr val="tx1"/>
              </a:solidFill>
            </a:endParaRPr>
          </a:p>
          <a:p>
            <a:pPr algn="just"/>
            <a:r>
              <a:rPr lang="en-US" sz="2400" b="1" dirty="0" smtClean="0">
                <a:solidFill>
                  <a:srgbClr val="FF0000"/>
                </a:solidFill>
              </a:rPr>
              <a:t>Process consultation</a:t>
            </a:r>
            <a:r>
              <a:rPr lang="en-US" sz="2400" b="1" dirty="0" smtClean="0">
                <a:solidFill>
                  <a:schemeClr val="tx1"/>
                </a:solidFill>
              </a:rPr>
              <a:t>:- </a:t>
            </a:r>
            <a:r>
              <a:rPr lang="en-US" sz="2400" dirty="0" smtClean="0">
                <a:solidFill>
                  <a:schemeClr val="tx1"/>
                </a:solidFill>
              </a:rPr>
              <a:t>is </a:t>
            </a:r>
            <a:r>
              <a:rPr lang="en-US" sz="2400" dirty="0">
                <a:solidFill>
                  <a:schemeClr val="tx1"/>
                </a:solidFill>
              </a:rPr>
              <a:t>for an outside consultant to assist a client, usually </a:t>
            </a:r>
            <a:r>
              <a:rPr lang="en-US" sz="2400" dirty="0" smtClean="0">
                <a:solidFill>
                  <a:schemeClr val="tx1"/>
                </a:solidFill>
              </a:rPr>
              <a:t>a manager</a:t>
            </a:r>
            <a:r>
              <a:rPr lang="en-US" sz="2400" dirty="0">
                <a:solidFill>
                  <a:schemeClr val="tx1"/>
                </a:solidFill>
              </a:rPr>
              <a:t>, “to perceive, understand, and act upon process events” with which </a:t>
            </a:r>
            <a:r>
              <a:rPr lang="en-US" sz="2400" dirty="0" smtClean="0">
                <a:solidFill>
                  <a:schemeClr val="tx1"/>
                </a:solidFill>
              </a:rPr>
              <a:t>the manager </a:t>
            </a:r>
            <a:r>
              <a:rPr lang="en-US" sz="2400" dirty="0">
                <a:solidFill>
                  <a:schemeClr val="tx1"/>
                </a:solidFill>
              </a:rPr>
              <a:t>must </a:t>
            </a:r>
            <a:r>
              <a:rPr lang="en-US" sz="2400" dirty="0" smtClean="0">
                <a:solidFill>
                  <a:schemeClr val="tx1"/>
                </a:solidFill>
              </a:rPr>
              <a:t>deal.</a:t>
            </a:r>
          </a:p>
          <a:p>
            <a:pPr marL="342900" indent="-342900" algn="just">
              <a:buFont typeface="Wingdings" pitchFamily="2" charset="2"/>
              <a:buChar char="ü"/>
            </a:pPr>
            <a:r>
              <a:rPr lang="en-US" sz="2400" dirty="0" smtClean="0">
                <a:solidFill>
                  <a:schemeClr val="tx1"/>
                </a:solidFill>
              </a:rPr>
              <a:t>These </a:t>
            </a:r>
            <a:r>
              <a:rPr lang="en-US" sz="2400" dirty="0">
                <a:solidFill>
                  <a:schemeClr val="tx1"/>
                </a:solidFill>
              </a:rPr>
              <a:t>events might include workflow, informal </a:t>
            </a:r>
            <a:r>
              <a:rPr lang="en-US" sz="2400" dirty="0" smtClean="0">
                <a:solidFill>
                  <a:schemeClr val="tx1"/>
                </a:solidFill>
              </a:rPr>
              <a:t>relationships among </a:t>
            </a:r>
            <a:r>
              <a:rPr lang="en-US" sz="2400" dirty="0">
                <a:solidFill>
                  <a:schemeClr val="tx1"/>
                </a:solidFill>
              </a:rPr>
              <a:t>unit members, and formal communication channels.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343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5333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OD cont..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838200"/>
            <a:ext cx="8458200" cy="58674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400" b="1" dirty="0" smtClean="0">
                <a:solidFill>
                  <a:srgbClr val="FF0000"/>
                </a:solidFill>
              </a:rPr>
              <a:t>Team building</a:t>
            </a:r>
          </a:p>
          <a:p>
            <a:pPr algn="just"/>
            <a:endParaRPr lang="en-US" sz="2400" b="1" dirty="0">
              <a:solidFill>
                <a:srgbClr val="FF0000"/>
              </a:solidFill>
            </a:endParaRPr>
          </a:p>
          <a:p>
            <a:pPr algn="just"/>
            <a:endParaRPr lang="en-US" sz="2400" b="1" dirty="0" smtClean="0">
              <a:solidFill>
                <a:srgbClr val="FF0000"/>
              </a:solidFill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uses </a:t>
            </a:r>
            <a:r>
              <a:rPr lang="en-US" sz="2400" dirty="0">
                <a:solidFill>
                  <a:schemeClr val="tx1"/>
                </a:solidFill>
              </a:rPr>
              <a:t>high-interaction </a:t>
            </a:r>
            <a:r>
              <a:rPr lang="en-US" sz="2400" dirty="0" smtClean="0">
                <a:solidFill>
                  <a:schemeClr val="tx1"/>
                </a:solidFill>
              </a:rPr>
              <a:t>group activities </a:t>
            </a:r>
            <a:r>
              <a:rPr lang="en-US" sz="2400" dirty="0">
                <a:solidFill>
                  <a:schemeClr val="tx1"/>
                </a:solidFill>
              </a:rPr>
              <a:t>to increase trust and openness among team members, improve </a:t>
            </a:r>
            <a:r>
              <a:rPr lang="en-US" sz="2400" dirty="0" smtClean="0">
                <a:solidFill>
                  <a:schemeClr val="tx1"/>
                </a:solidFill>
              </a:rPr>
              <a:t>coordinative efforts</a:t>
            </a:r>
            <a:r>
              <a:rPr lang="en-US" sz="2400" dirty="0">
                <a:solidFill>
                  <a:schemeClr val="tx1"/>
                </a:solidFill>
              </a:rPr>
              <a:t>, and increase team </a:t>
            </a:r>
            <a:r>
              <a:rPr lang="en-US" sz="2400" dirty="0" smtClean="0">
                <a:solidFill>
                  <a:schemeClr val="tx1"/>
                </a:solidFill>
              </a:rPr>
              <a:t>performance.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Emphasize the intragroup level, meaning within organizational families (command groups) as well as committees, project teams, self-managed teams, and task groups.</a:t>
            </a:r>
          </a:p>
          <a:p>
            <a:pPr algn="just"/>
            <a:r>
              <a:rPr lang="en-US" sz="2400" b="1" dirty="0" smtClean="0">
                <a:solidFill>
                  <a:srgbClr val="FF0000"/>
                </a:solidFill>
              </a:rPr>
              <a:t>Intergroup development</a:t>
            </a:r>
            <a:endParaRPr lang="en-US" sz="2400" b="1" dirty="0">
              <a:solidFill>
                <a:schemeClr val="tx1"/>
              </a:solidFill>
            </a:endParaRPr>
          </a:p>
          <a:p>
            <a:pPr algn="just"/>
            <a:r>
              <a:rPr lang="en-US" sz="2400" dirty="0" smtClean="0">
                <a:solidFill>
                  <a:schemeClr val="tx1"/>
                </a:solidFill>
              </a:rPr>
              <a:t>seeks </a:t>
            </a:r>
            <a:r>
              <a:rPr lang="en-US" sz="2400" dirty="0">
                <a:solidFill>
                  <a:schemeClr val="tx1"/>
                </a:solidFill>
              </a:rPr>
              <a:t>to change groups’ </a:t>
            </a:r>
            <a:r>
              <a:rPr lang="en-US" sz="2400" dirty="0" smtClean="0">
                <a:solidFill>
                  <a:schemeClr val="tx1"/>
                </a:solidFill>
              </a:rPr>
              <a:t>attitudes, stereotypes</a:t>
            </a:r>
            <a:r>
              <a:rPr lang="en-US" sz="2400" dirty="0">
                <a:solidFill>
                  <a:schemeClr val="tx1"/>
                </a:solidFill>
              </a:rPr>
              <a:t>, and perceptions about each other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tx1"/>
                </a:solidFill>
              </a:rPr>
              <a:t>Here</a:t>
            </a:r>
            <a:r>
              <a:rPr lang="en-US" sz="2400" dirty="0">
                <a:solidFill>
                  <a:schemeClr val="tx1"/>
                </a:solidFill>
              </a:rPr>
              <a:t>, training sessions </a:t>
            </a:r>
            <a:r>
              <a:rPr lang="en-US" sz="2400" dirty="0" smtClean="0">
                <a:solidFill>
                  <a:schemeClr val="tx1"/>
                </a:solidFill>
              </a:rPr>
              <a:t>closely resemble </a:t>
            </a:r>
            <a:r>
              <a:rPr lang="en-US" sz="2400" dirty="0">
                <a:solidFill>
                  <a:schemeClr val="tx1"/>
                </a:solidFill>
              </a:rPr>
              <a:t>diversity training, except rather than focusing on demographic </a:t>
            </a:r>
            <a:r>
              <a:rPr lang="en-US" sz="2400" dirty="0" smtClean="0">
                <a:solidFill>
                  <a:schemeClr val="tx1"/>
                </a:solidFill>
              </a:rPr>
              <a:t>differences, they </a:t>
            </a:r>
            <a:r>
              <a:rPr lang="en-US" sz="2400" dirty="0">
                <a:solidFill>
                  <a:schemeClr val="tx1"/>
                </a:solidFill>
              </a:rPr>
              <a:t>focus on differences among occupations, departments, or </a:t>
            </a:r>
            <a:r>
              <a:rPr lang="en-US" sz="2400" dirty="0" smtClean="0">
                <a:solidFill>
                  <a:schemeClr val="tx1"/>
                </a:solidFill>
              </a:rPr>
              <a:t>divisions within </a:t>
            </a:r>
            <a:r>
              <a:rPr lang="en-US" sz="2400" dirty="0">
                <a:solidFill>
                  <a:schemeClr val="tx1"/>
                </a:solidFill>
              </a:rPr>
              <a:t>an organization.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19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52400"/>
            <a:ext cx="17526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7870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7619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OD cont.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914400"/>
            <a:ext cx="8458200" cy="5791200"/>
          </a:xfrm>
        </p:spPr>
        <p:txBody>
          <a:bodyPr/>
          <a:lstStyle/>
          <a:p>
            <a:pPr algn="just"/>
            <a:r>
              <a:rPr lang="en-US" sz="2400" b="1" dirty="0" smtClean="0">
                <a:solidFill>
                  <a:srgbClr val="FF0000"/>
                </a:solidFill>
              </a:rPr>
              <a:t>Appreciative </a:t>
            </a:r>
            <a:r>
              <a:rPr lang="en-US" sz="2400" b="1" dirty="0" smtClean="0">
                <a:solidFill>
                  <a:srgbClr val="FF0000"/>
                </a:solidFill>
              </a:rPr>
              <a:t>inquiry</a:t>
            </a:r>
            <a:r>
              <a:rPr lang="en-US" sz="2400" b="1" dirty="0" smtClean="0">
                <a:solidFill>
                  <a:schemeClr val="tx1"/>
                </a:solidFill>
              </a:rPr>
              <a:t>:- </a:t>
            </a:r>
            <a:r>
              <a:rPr lang="en-US" sz="2400" dirty="0" smtClean="0">
                <a:solidFill>
                  <a:schemeClr val="tx1"/>
                </a:solidFill>
              </a:rPr>
              <a:t>Most </a:t>
            </a:r>
            <a:r>
              <a:rPr lang="en-US" sz="2400" dirty="0">
                <a:solidFill>
                  <a:schemeClr val="tx1"/>
                </a:solidFill>
              </a:rPr>
              <a:t>OD approaches are problem-centered. </a:t>
            </a:r>
            <a:endParaRPr lang="en-US" sz="2400" dirty="0" smtClean="0">
              <a:solidFill>
                <a:schemeClr val="tx1"/>
              </a:solidFill>
            </a:endParaRPr>
          </a:p>
          <a:p>
            <a:pPr marL="342900" indent="-342900" algn="just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tx1"/>
                </a:solidFill>
              </a:rPr>
              <a:t>They </a:t>
            </a:r>
            <a:r>
              <a:rPr lang="en-US" sz="2400" dirty="0" smtClean="0">
                <a:solidFill>
                  <a:schemeClr val="tx1"/>
                </a:solidFill>
              </a:rPr>
              <a:t>identify a </a:t>
            </a:r>
            <a:r>
              <a:rPr lang="en-US" sz="2400" dirty="0">
                <a:solidFill>
                  <a:schemeClr val="tx1"/>
                </a:solidFill>
              </a:rPr>
              <a:t>problem or set of problems, then look for a solution. </a:t>
            </a:r>
            <a:r>
              <a:rPr lang="en-US" sz="2400" b="1" dirty="0">
                <a:solidFill>
                  <a:schemeClr val="tx1"/>
                </a:solidFill>
              </a:rPr>
              <a:t>Appreciative </a:t>
            </a:r>
            <a:r>
              <a:rPr lang="en-US" sz="2400" b="1" dirty="0" smtClean="0">
                <a:solidFill>
                  <a:schemeClr val="tx1"/>
                </a:solidFill>
              </a:rPr>
              <a:t>inquiry (AI</a:t>
            </a:r>
            <a:r>
              <a:rPr lang="en-US" sz="2400" b="1" dirty="0">
                <a:solidFill>
                  <a:schemeClr val="tx1"/>
                </a:solidFill>
              </a:rPr>
              <a:t>) </a:t>
            </a:r>
            <a:r>
              <a:rPr lang="en-US" sz="2400" dirty="0">
                <a:solidFill>
                  <a:schemeClr val="tx1"/>
                </a:solidFill>
              </a:rPr>
              <a:t>instead accentuates the </a:t>
            </a:r>
            <a:r>
              <a:rPr lang="en-US" sz="2400" dirty="0" smtClean="0">
                <a:solidFill>
                  <a:schemeClr val="tx1"/>
                </a:solidFill>
              </a:rPr>
              <a:t>positive.</a:t>
            </a:r>
          </a:p>
          <a:p>
            <a:pPr marL="342900" indent="-342900" algn="just">
              <a:buFont typeface="Wingdings" pitchFamily="2" charset="2"/>
              <a:buChar char="v"/>
            </a:pPr>
            <a:r>
              <a:rPr lang="en-US" sz="2400" dirty="0" smtClean="0">
                <a:solidFill>
                  <a:schemeClr val="tx1"/>
                </a:solidFill>
              </a:rPr>
              <a:t>Rather </a:t>
            </a:r>
            <a:r>
              <a:rPr lang="en-US" sz="2400" dirty="0">
                <a:solidFill>
                  <a:schemeClr val="tx1"/>
                </a:solidFill>
              </a:rPr>
              <a:t>than looking for problems to </a:t>
            </a:r>
            <a:r>
              <a:rPr lang="en-US" sz="2400" dirty="0" smtClean="0">
                <a:solidFill>
                  <a:schemeClr val="tx1"/>
                </a:solidFill>
              </a:rPr>
              <a:t>fix, it </a:t>
            </a:r>
            <a:r>
              <a:rPr lang="en-US" sz="2400" dirty="0">
                <a:solidFill>
                  <a:schemeClr val="tx1"/>
                </a:solidFill>
              </a:rPr>
              <a:t>seeks to identify the unique qualities and special strengths of an </a:t>
            </a:r>
            <a:r>
              <a:rPr lang="en-US" sz="2400" dirty="0" smtClean="0">
                <a:solidFill>
                  <a:schemeClr val="tx1"/>
                </a:solidFill>
              </a:rPr>
              <a:t>organization, which </a:t>
            </a:r>
            <a:r>
              <a:rPr lang="en-US" sz="2400" dirty="0">
                <a:solidFill>
                  <a:schemeClr val="tx1"/>
                </a:solidFill>
              </a:rPr>
              <a:t>members can build on to improve </a:t>
            </a:r>
            <a:r>
              <a:rPr lang="en-US" sz="2400" dirty="0" smtClean="0">
                <a:solidFill>
                  <a:schemeClr val="tx1"/>
                </a:solidFill>
              </a:rPr>
              <a:t>performance</a:t>
            </a:r>
          </a:p>
          <a:p>
            <a:pPr algn="l"/>
            <a:endParaRPr lang="en-US" dirty="0" smtClean="0">
              <a:solidFill>
                <a:srgbClr val="FF0000"/>
              </a:solidFill>
            </a:endParaRPr>
          </a:p>
          <a:p>
            <a:pPr algn="l"/>
            <a:r>
              <a:rPr lang="en-US" dirty="0" smtClean="0">
                <a:solidFill>
                  <a:srgbClr val="FF0000"/>
                </a:solidFill>
              </a:rPr>
              <a:t>Creating </a:t>
            </a:r>
            <a:r>
              <a:rPr lang="en-US" dirty="0">
                <a:solidFill>
                  <a:srgbClr val="FF0000"/>
                </a:solidFill>
              </a:rPr>
              <a:t>a Culture for Change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2698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761999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143000"/>
            <a:ext cx="8458200" cy="5562600"/>
          </a:xfrm>
        </p:spPr>
        <p:txBody>
          <a:bodyPr/>
          <a:lstStyle/>
          <a:p>
            <a:endParaRPr lang="en-US" dirty="0" smtClean="0"/>
          </a:p>
          <a:p>
            <a:r>
              <a:rPr lang="en-US" sz="4400" dirty="0" smtClean="0"/>
              <a:t>End of chapter seven</a:t>
            </a:r>
          </a:p>
          <a:p>
            <a:r>
              <a:rPr lang="en-US" sz="4400" dirty="0" smtClean="0"/>
              <a:t>?</a:t>
            </a:r>
            <a:endParaRPr lang="en-US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Dr. Zimbelachew M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11ACD-880B-4F27-BA9A-56075688536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37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2086</Words>
  <Application>Microsoft Office PowerPoint</Application>
  <PresentationFormat>On-screen Show (4:3)</PresentationFormat>
  <Paragraphs>206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Forces of change</vt:lpstr>
      <vt:lpstr>Planned Change Vs. Emergent Change</vt:lpstr>
      <vt:lpstr> Resistance to Change </vt:lpstr>
      <vt:lpstr> Overcoming resistance to change </vt:lpstr>
      <vt:lpstr>Overcoming resistance cont.</vt:lpstr>
      <vt:lpstr>Overcoming resistance cont.</vt:lpstr>
      <vt:lpstr>Overcoming resistance cont.</vt:lpstr>
      <vt:lpstr>Overcoming resistance cont.</vt:lpstr>
      <vt:lpstr>Approaches to Managing  Change                 </vt:lpstr>
      <vt:lpstr>Approaches to Managing  Change                 </vt:lpstr>
      <vt:lpstr>Approaches to Managing  Change                 </vt:lpstr>
      <vt:lpstr>Approach to change cont..</vt:lpstr>
      <vt:lpstr>Approaches cont.</vt:lpstr>
      <vt:lpstr> Action research </vt:lpstr>
      <vt:lpstr> Organizational Development </vt:lpstr>
      <vt:lpstr>OD cont..</vt:lpstr>
      <vt:lpstr>OD cont..</vt:lpstr>
      <vt:lpstr>OD cont.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33</cp:revision>
  <dcterms:created xsi:type="dcterms:W3CDTF">2023-12-13T05:09:59Z</dcterms:created>
  <dcterms:modified xsi:type="dcterms:W3CDTF">2023-12-14T12:01:45Z</dcterms:modified>
</cp:coreProperties>
</file>